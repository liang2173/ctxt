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937"/>
        </a:solidFill>
        <a:effectLst/>
      </p:bgPr>
    </p:bg>
    <p:spTree>
      <p:nvGrpSpPr>
        <p:cNvPr id="1" name=""/>
        <p:cNvGrpSpPr/>
        <p:nvPr/>
      </p:nvGrpSpPr>
      <p:grpSpPr/>
      <p:sp>
        <p:nvSpPr>
          <p:cNvPr id="2" name="TextBox 1"/>
          <p:cNvSpPr txBox="1"/>
          <p:nvPr/>
        </p:nvSpPr>
        <p:spPr>
          <a:xfrm>
            <a:off x="914400" y="1645920"/>
            <a:ext cx="10058400" cy="1097280"/>
          </a:xfrm>
          <a:prstGeom prst="rect">
            <a:avLst/>
          </a:prstGeom>
          <a:noFill/>
        </p:spPr>
        <p:txBody>
          <a:bodyPr wrap="square">
            <a:spAutoFit/>
          </a:bodyPr>
          <a:lstStyle/>
          <a:p>
            <a:pPr algn="ctr">
              <a:defRPr sz="4800" b="1">
                <a:solidFill>
                  <a:srgbClr val="FFFFFF"/>
                </a:solidFill>
                <a:latin typeface="Microsoft YaHei"/>
              </a:defRPr>
            </a:pPr>
            <a:r>
              <a:t>AI智记 出题示例</a:t>
            </a:r>
          </a:p>
        </p:txBody>
      </p:sp>
      <p:sp>
        <p:nvSpPr>
          <p:cNvPr id="3" name="TextBox 2"/>
          <p:cNvSpPr txBox="1"/>
          <p:nvPr/>
        </p:nvSpPr>
        <p:spPr>
          <a:xfrm>
            <a:off x="914400" y="2926080"/>
            <a:ext cx="10058400" cy="731520"/>
          </a:xfrm>
          <a:prstGeom prst="rect">
            <a:avLst/>
          </a:prstGeom>
          <a:noFill/>
        </p:spPr>
        <p:txBody>
          <a:bodyPr wrap="square">
            <a:spAutoFit/>
          </a:bodyPr>
          <a:lstStyle/>
          <a:p>
            <a:pPr algn="ctr">
              <a:defRPr sz="2000" b="0">
                <a:solidFill>
                  <a:srgbClr val="AAAABB"/>
                </a:solidFill>
                <a:latin typeface="Microsoft YaHei"/>
              </a:defRPr>
            </a:pPr>
            <a:r>
              <a:t>以"生态系统的营养结构"为例，展示AI如何按规则生成三级题目</a:t>
            </a:r>
          </a:p>
        </p:txBody>
      </p:sp>
      <p:sp>
        <p:nvSpPr>
          <p:cNvPr id="4" name="Rounded Rectangle 3"/>
          <p:cNvSpPr/>
          <p:nvPr/>
        </p:nvSpPr>
        <p:spPr>
          <a:xfrm>
            <a:off x="3474720" y="3931920"/>
            <a:ext cx="1828800" cy="41148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Microsoft YaHei"/>
              </a:defRPr>
            </a:pPr>
            <a:r>
              <a:t>中等段落(80-150字)</a:t>
            </a:r>
          </a:p>
        </p:txBody>
      </p:sp>
      <p:sp>
        <p:nvSpPr>
          <p:cNvPr id="5" name="Rounded Rectangle 4"/>
          <p:cNvSpPr/>
          <p:nvPr/>
        </p:nvSpPr>
        <p:spPr>
          <a:xfrm>
            <a:off x="6126480" y="3931920"/>
            <a:ext cx="1828800" cy="41148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Microsoft YaHei"/>
              </a:defRPr>
            </a:pPr>
            <a:r>
              <a:t>4选择 + 3填空 + 1简答</a:t>
            </a:r>
          </a:p>
        </p:txBody>
      </p:sp>
      <p:sp>
        <p:nvSpPr>
          <p:cNvPr id="6" name="Rounded Rectangle 5"/>
          <p:cNvSpPr/>
          <p:nvPr/>
        </p:nvSpPr>
        <p:spPr>
          <a:xfrm>
            <a:off x="8686800" y="3931920"/>
            <a:ext cx="1828800" cy="41148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latin typeface="Microsoft YaHei"/>
              </a:defRPr>
            </a:pPr>
            <a:r>
              <a:t>答案全部来自原文</a:t>
            </a:r>
          </a:p>
        </p:txBody>
      </p:sp>
      <p:sp>
        <p:nvSpPr>
          <p:cNvPr id="7" name="TextBox 6"/>
          <p:cNvSpPr txBox="1"/>
          <p:nvPr/>
        </p:nvSpPr>
        <p:spPr>
          <a:xfrm>
            <a:off x="11247120" y="6446520"/>
            <a:ext cx="822960" cy="320040"/>
          </a:xfrm>
          <a:prstGeom prst="rect">
            <a:avLst/>
          </a:prstGeom>
          <a:noFill/>
        </p:spPr>
        <p:txBody>
          <a:bodyPr wrap="square">
            <a:spAutoFit/>
          </a:bodyPr>
          <a:lstStyle/>
          <a:p>
            <a:pPr algn="r">
              <a:defRPr sz="1000" b="0">
                <a:solidFill>
                  <a:srgbClr val="999999"/>
                </a:solidFill>
                <a:latin typeface="Microsoft YaHei"/>
              </a:defRPr>
            </a:pPr>
            <a:r>
              <a:t>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C"/>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F2937"/>
                </a:solidFill>
                <a:latin typeface="Microsoft YaHei"/>
              </a:defRPr>
            </a:pPr>
            <a:r>
              <a:t>📋 知识点原文</a:t>
            </a:r>
          </a:p>
        </p:txBody>
      </p:sp>
      <p:sp>
        <p:nvSpPr>
          <p:cNvPr id="3" name="Rounded Rectangle 2"/>
          <p:cNvSpPr/>
          <p:nvPr/>
        </p:nvSpPr>
        <p:spPr>
          <a:xfrm>
            <a:off x="731520" y="1097280"/>
            <a:ext cx="1060704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280160"/>
            <a:ext cx="10058400" cy="1371600"/>
          </a:xfrm>
          <a:prstGeom prst="rect">
            <a:avLst/>
          </a:prstGeom>
          <a:noFill/>
        </p:spPr>
        <p:txBody>
          <a:bodyPr wrap="square">
            <a:spAutoFit/>
          </a:bodyPr>
          <a:lstStyle/>
          <a:p>
            <a:pPr algn="l">
              <a:defRPr sz="1600" b="0">
                <a:solidFill>
                  <a:srgbClr val="333333"/>
                </a:solidFill>
                <a:latin typeface="Microsoft YaHei"/>
              </a:defRPr>
            </a:pPr>
            <a:r>
              <a:t>生态系统的营养结构（nutrition structure）：指生态系统中各种生物成分之间或生态系统中各生态功能群——生产者、消费者和分解者之间通过吃与被吃的食物关系以营养为纽带依次连接而成的食物链网结构，以及营养物质在食物链网中不同环节的组配结构。</a:t>
            </a:r>
          </a:p>
        </p:txBody>
      </p:sp>
      <p:sp>
        <p:nvSpPr>
          <p:cNvPr id="5" name="TextBox 4"/>
          <p:cNvSpPr txBox="1"/>
          <p:nvPr/>
        </p:nvSpPr>
        <p:spPr>
          <a:xfrm>
            <a:off x="731520" y="2880360"/>
            <a:ext cx="4572000" cy="320040"/>
          </a:xfrm>
          <a:prstGeom prst="rect">
            <a:avLst/>
          </a:prstGeom>
          <a:noFill/>
        </p:spPr>
        <p:txBody>
          <a:bodyPr wrap="square">
            <a:spAutoFit/>
          </a:bodyPr>
          <a:lstStyle/>
          <a:p>
            <a:pPr algn="l">
              <a:defRPr sz="1300" b="0">
                <a:solidFill>
                  <a:srgbClr val="999999"/>
                </a:solidFill>
                <a:latin typeface="Microsoft YaHei"/>
              </a:defRPr>
            </a:pPr>
            <a:r>
              <a:t>📊 约120字 · 中等段落 · 4个考查角度</a:t>
            </a:r>
          </a:p>
        </p:txBody>
      </p:sp>
      <p:sp>
        <p:nvSpPr>
          <p:cNvPr id="6" name="Rounded Rectangle 5"/>
          <p:cNvSpPr/>
          <p:nvPr/>
        </p:nvSpPr>
        <p:spPr>
          <a:xfrm>
            <a:off x="731520" y="3383280"/>
            <a:ext cx="26060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520440"/>
            <a:ext cx="2194560" cy="274320"/>
          </a:xfrm>
          <a:prstGeom prst="rect">
            <a:avLst/>
          </a:prstGeom>
          <a:noFill/>
        </p:spPr>
        <p:txBody>
          <a:bodyPr wrap="square">
            <a:spAutoFit/>
          </a:bodyPr>
          <a:lstStyle/>
          <a:p>
            <a:pPr algn="l">
              <a:defRPr sz="1100" b="1">
                <a:solidFill>
                  <a:srgbClr val="10B981"/>
                </a:solidFill>
                <a:latin typeface="Microsoft YaHei"/>
              </a:defRPr>
            </a:pPr>
            <a:r>
              <a:t>角度一</a:t>
            </a:r>
          </a:p>
        </p:txBody>
      </p:sp>
      <p:sp>
        <p:nvSpPr>
          <p:cNvPr id="8" name="TextBox 7"/>
          <p:cNvSpPr txBox="1"/>
          <p:nvPr/>
        </p:nvSpPr>
        <p:spPr>
          <a:xfrm>
            <a:off x="914400" y="3840480"/>
            <a:ext cx="2194560" cy="365760"/>
          </a:xfrm>
          <a:prstGeom prst="rect">
            <a:avLst/>
          </a:prstGeom>
          <a:noFill/>
        </p:spPr>
        <p:txBody>
          <a:bodyPr wrap="square">
            <a:spAutoFit/>
          </a:bodyPr>
          <a:lstStyle/>
          <a:p>
            <a:pPr algn="l">
              <a:defRPr sz="1800" b="1">
                <a:solidFill>
                  <a:srgbClr val="1F2937"/>
                </a:solidFill>
                <a:latin typeface="Microsoft YaHei"/>
              </a:defRPr>
            </a:pPr>
            <a:r>
              <a:t>定义</a:t>
            </a:r>
          </a:p>
        </p:txBody>
      </p:sp>
      <p:sp>
        <p:nvSpPr>
          <p:cNvPr id="9" name="TextBox 8"/>
          <p:cNvSpPr txBox="1"/>
          <p:nvPr/>
        </p:nvSpPr>
        <p:spPr>
          <a:xfrm>
            <a:off x="914400" y="4297680"/>
            <a:ext cx="2194560" cy="822960"/>
          </a:xfrm>
          <a:prstGeom prst="rect">
            <a:avLst/>
          </a:prstGeom>
          <a:noFill/>
        </p:spPr>
        <p:txBody>
          <a:bodyPr wrap="square">
            <a:spAutoFit/>
          </a:bodyPr>
          <a:lstStyle/>
          <a:p>
            <a:pPr algn="l">
              <a:defRPr sz="1300" b="0">
                <a:solidFill>
                  <a:srgbClr val="333333"/>
                </a:solidFill>
                <a:latin typeface="Microsoft YaHei"/>
              </a:defRPr>
            </a:pPr>
            <a:r>
              <a:t>营养结构是什么</a:t>
            </a:r>
          </a:p>
        </p:txBody>
      </p:sp>
      <p:sp>
        <p:nvSpPr>
          <p:cNvPr id="10" name="TextBox 9"/>
          <p:cNvSpPr txBox="1"/>
          <p:nvPr/>
        </p:nvSpPr>
        <p:spPr>
          <a:xfrm>
            <a:off x="914400" y="5212080"/>
            <a:ext cx="2194560" cy="274320"/>
          </a:xfrm>
          <a:prstGeom prst="rect">
            <a:avLst/>
          </a:prstGeom>
          <a:noFill/>
        </p:spPr>
        <p:txBody>
          <a:bodyPr wrap="square">
            <a:spAutoFit/>
          </a:bodyPr>
          <a:lstStyle/>
          <a:p>
            <a:pPr algn="l">
              <a:defRPr sz="1100" b="0">
                <a:solidFill>
                  <a:srgbClr val="10B981"/>
                </a:solidFill>
                <a:latin typeface="Microsoft YaHei"/>
              </a:defRPr>
            </a:pPr>
            <a:r>
              <a:t>选择 → 填空</a:t>
            </a:r>
          </a:p>
        </p:txBody>
      </p:sp>
      <p:sp>
        <p:nvSpPr>
          <p:cNvPr id="11" name="Rounded Rectangle 10"/>
          <p:cNvSpPr/>
          <p:nvPr/>
        </p:nvSpPr>
        <p:spPr>
          <a:xfrm>
            <a:off x="3520439" y="3383280"/>
            <a:ext cx="26060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19" y="3520440"/>
            <a:ext cx="2194560" cy="274320"/>
          </a:xfrm>
          <a:prstGeom prst="rect">
            <a:avLst/>
          </a:prstGeom>
          <a:noFill/>
        </p:spPr>
        <p:txBody>
          <a:bodyPr wrap="square">
            <a:spAutoFit/>
          </a:bodyPr>
          <a:lstStyle/>
          <a:p>
            <a:pPr algn="l">
              <a:defRPr sz="1100" b="1">
                <a:solidFill>
                  <a:srgbClr val="4F46E5"/>
                </a:solidFill>
                <a:latin typeface="Microsoft YaHei"/>
              </a:defRPr>
            </a:pPr>
            <a:r>
              <a:t>角度二</a:t>
            </a:r>
          </a:p>
        </p:txBody>
      </p:sp>
      <p:sp>
        <p:nvSpPr>
          <p:cNvPr id="13" name="TextBox 12"/>
          <p:cNvSpPr txBox="1"/>
          <p:nvPr/>
        </p:nvSpPr>
        <p:spPr>
          <a:xfrm>
            <a:off x="3703319" y="3840480"/>
            <a:ext cx="2194560" cy="365760"/>
          </a:xfrm>
          <a:prstGeom prst="rect">
            <a:avLst/>
          </a:prstGeom>
          <a:noFill/>
        </p:spPr>
        <p:txBody>
          <a:bodyPr wrap="square">
            <a:spAutoFit/>
          </a:bodyPr>
          <a:lstStyle/>
          <a:p>
            <a:pPr algn="l">
              <a:defRPr sz="1800" b="1">
                <a:solidFill>
                  <a:srgbClr val="1F2937"/>
                </a:solidFill>
                <a:latin typeface="Microsoft YaHei"/>
              </a:defRPr>
            </a:pPr>
            <a:r>
              <a:t>功能群</a:t>
            </a:r>
          </a:p>
        </p:txBody>
      </p:sp>
      <p:sp>
        <p:nvSpPr>
          <p:cNvPr id="14" name="TextBox 13"/>
          <p:cNvSpPr txBox="1"/>
          <p:nvPr/>
        </p:nvSpPr>
        <p:spPr>
          <a:xfrm>
            <a:off x="3703319" y="4297680"/>
            <a:ext cx="2194560" cy="822960"/>
          </a:xfrm>
          <a:prstGeom prst="rect">
            <a:avLst/>
          </a:prstGeom>
          <a:noFill/>
        </p:spPr>
        <p:txBody>
          <a:bodyPr wrap="square">
            <a:spAutoFit/>
          </a:bodyPr>
          <a:lstStyle/>
          <a:p>
            <a:pPr algn="l">
              <a:defRPr sz="1300" b="0">
                <a:solidFill>
                  <a:srgbClr val="333333"/>
                </a:solidFill>
                <a:latin typeface="Microsoft YaHei"/>
              </a:defRPr>
            </a:pPr>
            <a:r>
              <a:t>生产者、消费者、分解者</a:t>
            </a:r>
          </a:p>
        </p:txBody>
      </p:sp>
      <p:sp>
        <p:nvSpPr>
          <p:cNvPr id="15" name="TextBox 14"/>
          <p:cNvSpPr txBox="1"/>
          <p:nvPr/>
        </p:nvSpPr>
        <p:spPr>
          <a:xfrm>
            <a:off x="3703319" y="5212080"/>
            <a:ext cx="2194560" cy="274320"/>
          </a:xfrm>
          <a:prstGeom prst="rect">
            <a:avLst/>
          </a:prstGeom>
          <a:noFill/>
        </p:spPr>
        <p:txBody>
          <a:bodyPr wrap="square">
            <a:spAutoFit/>
          </a:bodyPr>
          <a:lstStyle/>
          <a:p>
            <a:pPr algn="l">
              <a:defRPr sz="1100" b="0">
                <a:solidFill>
                  <a:srgbClr val="4F46E5"/>
                </a:solidFill>
                <a:latin typeface="Microsoft YaHei"/>
              </a:defRPr>
            </a:pPr>
            <a:r>
              <a:t>选择 → 填空</a:t>
            </a:r>
          </a:p>
        </p:txBody>
      </p:sp>
      <p:sp>
        <p:nvSpPr>
          <p:cNvPr id="16" name="Rounded Rectangle 15"/>
          <p:cNvSpPr/>
          <p:nvPr/>
        </p:nvSpPr>
        <p:spPr>
          <a:xfrm>
            <a:off x="6309359" y="3383280"/>
            <a:ext cx="26060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39" y="3520440"/>
            <a:ext cx="2194560" cy="274320"/>
          </a:xfrm>
          <a:prstGeom prst="rect">
            <a:avLst/>
          </a:prstGeom>
          <a:noFill/>
        </p:spPr>
        <p:txBody>
          <a:bodyPr wrap="square">
            <a:spAutoFit/>
          </a:bodyPr>
          <a:lstStyle/>
          <a:p>
            <a:pPr algn="l">
              <a:defRPr sz="1100" b="1">
                <a:solidFill>
                  <a:srgbClr val="F59E0B"/>
                </a:solidFill>
                <a:latin typeface="Microsoft YaHei"/>
              </a:defRPr>
            </a:pPr>
            <a:r>
              <a:t>角度三</a:t>
            </a:r>
          </a:p>
        </p:txBody>
      </p:sp>
      <p:sp>
        <p:nvSpPr>
          <p:cNvPr id="18" name="TextBox 17"/>
          <p:cNvSpPr txBox="1"/>
          <p:nvPr/>
        </p:nvSpPr>
        <p:spPr>
          <a:xfrm>
            <a:off x="6492239" y="3840480"/>
            <a:ext cx="2194560" cy="365760"/>
          </a:xfrm>
          <a:prstGeom prst="rect">
            <a:avLst/>
          </a:prstGeom>
          <a:noFill/>
        </p:spPr>
        <p:txBody>
          <a:bodyPr wrap="square">
            <a:spAutoFit/>
          </a:bodyPr>
          <a:lstStyle/>
          <a:p>
            <a:pPr algn="l">
              <a:defRPr sz="1800" b="1">
                <a:solidFill>
                  <a:srgbClr val="1F2937"/>
                </a:solidFill>
                <a:latin typeface="Microsoft YaHei"/>
              </a:defRPr>
            </a:pPr>
            <a:r>
              <a:t>两种结构</a:t>
            </a:r>
          </a:p>
        </p:txBody>
      </p:sp>
      <p:sp>
        <p:nvSpPr>
          <p:cNvPr id="19" name="TextBox 18"/>
          <p:cNvSpPr txBox="1"/>
          <p:nvPr/>
        </p:nvSpPr>
        <p:spPr>
          <a:xfrm>
            <a:off x="6492239" y="4297680"/>
            <a:ext cx="2194560" cy="822960"/>
          </a:xfrm>
          <a:prstGeom prst="rect">
            <a:avLst/>
          </a:prstGeom>
          <a:noFill/>
        </p:spPr>
        <p:txBody>
          <a:bodyPr wrap="square">
            <a:spAutoFit/>
          </a:bodyPr>
          <a:lstStyle/>
          <a:p>
            <a:pPr algn="l">
              <a:defRPr sz="1300" b="0">
                <a:solidFill>
                  <a:srgbClr val="333333"/>
                </a:solidFill>
                <a:latin typeface="Microsoft YaHei"/>
              </a:defRPr>
            </a:pPr>
            <a:r>
              <a:t>食物链网+营养物质组配</a:t>
            </a:r>
          </a:p>
        </p:txBody>
      </p:sp>
      <p:sp>
        <p:nvSpPr>
          <p:cNvPr id="20" name="TextBox 19"/>
          <p:cNvSpPr txBox="1"/>
          <p:nvPr/>
        </p:nvSpPr>
        <p:spPr>
          <a:xfrm>
            <a:off x="6492239" y="5212080"/>
            <a:ext cx="2194560" cy="274320"/>
          </a:xfrm>
          <a:prstGeom prst="rect">
            <a:avLst/>
          </a:prstGeom>
          <a:noFill/>
        </p:spPr>
        <p:txBody>
          <a:bodyPr wrap="square">
            <a:spAutoFit/>
          </a:bodyPr>
          <a:lstStyle/>
          <a:p>
            <a:pPr algn="l">
              <a:defRPr sz="1100" b="0">
                <a:solidFill>
                  <a:srgbClr val="F59E0B"/>
                </a:solidFill>
                <a:latin typeface="Microsoft YaHei"/>
              </a:defRPr>
            </a:pPr>
            <a:r>
              <a:t>选择 → 填空</a:t>
            </a:r>
          </a:p>
        </p:txBody>
      </p:sp>
      <p:sp>
        <p:nvSpPr>
          <p:cNvPr id="21" name="Rounded Rectangle 20"/>
          <p:cNvSpPr/>
          <p:nvPr/>
        </p:nvSpPr>
        <p:spPr>
          <a:xfrm>
            <a:off x="9098280" y="3383280"/>
            <a:ext cx="26060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1160" y="3520440"/>
            <a:ext cx="2194560" cy="274320"/>
          </a:xfrm>
          <a:prstGeom prst="rect">
            <a:avLst/>
          </a:prstGeom>
          <a:noFill/>
        </p:spPr>
        <p:txBody>
          <a:bodyPr wrap="square">
            <a:spAutoFit/>
          </a:bodyPr>
          <a:lstStyle/>
          <a:p>
            <a:pPr algn="l">
              <a:defRPr sz="1100" b="1">
                <a:solidFill>
                  <a:srgbClr val="999999"/>
                </a:solidFill>
                <a:latin typeface="Microsoft YaHei"/>
              </a:defRPr>
            </a:pPr>
            <a:r>
              <a:t>角度四</a:t>
            </a:r>
          </a:p>
        </p:txBody>
      </p:sp>
      <p:sp>
        <p:nvSpPr>
          <p:cNvPr id="23" name="TextBox 22"/>
          <p:cNvSpPr txBox="1"/>
          <p:nvPr/>
        </p:nvSpPr>
        <p:spPr>
          <a:xfrm>
            <a:off x="9281160" y="3840480"/>
            <a:ext cx="2194560" cy="365760"/>
          </a:xfrm>
          <a:prstGeom prst="rect">
            <a:avLst/>
          </a:prstGeom>
          <a:noFill/>
        </p:spPr>
        <p:txBody>
          <a:bodyPr wrap="square">
            <a:spAutoFit/>
          </a:bodyPr>
          <a:lstStyle/>
          <a:p>
            <a:pPr algn="l">
              <a:defRPr sz="1800" b="1">
                <a:solidFill>
                  <a:srgbClr val="1F2937"/>
                </a:solidFill>
                <a:latin typeface="Microsoft YaHei"/>
              </a:defRPr>
            </a:pPr>
            <a:r>
              <a:t>连接机制</a:t>
            </a:r>
          </a:p>
        </p:txBody>
      </p:sp>
      <p:sp>
        <p:nvSpPr>
          <p:cNvPr id="24" name="TextBox 23"/>
          <p:cNvSpPr txBox="1"/>
          <p:nvPr/>
        </p:nvSpPr>
        <p:spPr>
          <a:xfrm>
            <a:off x="9281160" y="4297680"/>
            <a:ext cx="2194560" cy="822960"/>
          </a:xfrm>
          <a:prstGeom prst="rect">
            <a:avLst/>
          </a:prstGeom>
          <a:noFill/>
        </p:spPr>
        <p:txBody>
          <a:bodyPr wrap="square">
            <a:spAutoFit/>
          </a:bodyPr>
          <a:lstStyle/>
          <a:p>
            <a:pPr algn="l">
              <a:defRPr sz="1300" b="0">
                <a:solidFill>
                  <a:srgbClr val="333333"/>
                </a:solidFill>
                <a:latin typeface="Microsoft YaHei"/>
              </a:defRPr>
            </a:pPr>
            <a:r>
              <a:t>吃与被吃，以营养为纽带</a:t>
            </a:r>
          </a:p>
        </p:txBody>
      </p:sp>
      <p:sp>
        <p:nvSpPr>
          <p:cNvPr id="25" name="TextBox 24"/>
          <p:cNvSpPr txBox="1"/>
          <p:nvPr/>
        </p:nvSpPr>
        <p:spPr>
          <a:xfrm>
            <a:off x="9281160" y="5212080"/>
            <a:ext cx="2194560" cy="274320"/>
          </a:xfrm>
          <a:prstGeom prst="rect">
            <a:avLst/>
          </a:prstGeom>
          <a:noFill/>
        </p:spPr>
        <p:txBody>
          <a:bodyPr wrap="square">
            <a:spAutoFit/>
          </a:bodyPr>
          <a:lstStyle/>
          <a:p>
            <a:pPr algn="l">
              <a:defRPr sz="1100" b="0">
                <a:solidFill>
                  <a:srgbClr val="999999"/>
                </a:solidFill>
                <a:latin typeface="Microsoft YaHei"/>
              </a:defRPr>
            </a:pPr>
            <a:r>
              <a:t>仅选择</a:t>
            </a:r>
          </a:p>
        </p:txBody>
      </p:sp>
      <p:sp>
        <p:nvSpPr>
          <p:cNvPr id="26" name="Rounded Rectangle 25"/>
          <p:cNvSpPr/>
          <p:nvPr/>
        </p:nvSpPr>
        <p:spPr>
          <a:xfrm>
            <a:off x="731520" y="5943600"/>
            <a:ext cx="10607040" cy="54864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6007608"/>
            <a:ext cx="10058400" cy="411480"/>
          </a:xfrm>
          <a:prstGeom prst="rect">
            <a:avLst/>
          </a:prstGeom>
          <a:noFill/>
        </p:spPr>
        <p:txBody>
          <a:bodyPr wrap="square">
            <a:spAutoFit/>
          </a:bodyPr>
          <a:lstStyle/>
          <a:p>
            <a:pPr algn="ctr">
              <a:defRPr sz="1300" b="0">
                <a:solidFill>
                  <a:srgbClr val="FFFFFF"/>
                </a:solidFill>
                <a:latin typeface="Microsoft YaHei"/>
              </a:defRPr>
            </a:pPr>
            <a:r>
              <a:t>核心主题：完整定义复述 → 简答题  |  答案全部来自原文，不添加原文没有的推论或评价</a:t>
            </a:r>
          </a:p>
        </p:txBody>
      </p:sp>
      <p:sp>
        <p:nvSpPr>
          <p:cNvPr id="28" name="TextBox 27"/>
          <p:cNvSpPr txBox="1"/>
          <p:nvPr/>
        </p:nvSpPr>
        <p:spPr>
          <a:xfrm>
            <a:off x="11247120" y="6446520"/>
            <a:ext cx="822960" cy="320040"/>
          </a:xfrm>
          <a:prstGeom prst="rect">
            <a:avLst/>
          </a:prstGeom>
          <a:noFill/>
        </p:spPr>
        <p:txBody>
          <a:bodyPr wrap="square">
            <a:spAutoFit/>
          </a:bodyPr>
          <a:lstStyle/>
          <a:p>
            <a:pPr algn="r">
              <a:defRPr sz="1000" b="0">
                <a:solidFill>
                  <a:srgbClr val="999999"/>
                </a:solidFill>
                <a:latin typeface="Microsoft YaHei"/>
              </a:defRPr>
            </a:pPr>
            <a:r>
              <a:t>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C"/>
        </a:solidFill>
        <a:effectLst/>
      </p:bgPr>
    </p:bg>
    <p:spTree>
      <p:nvGrpSpPr>
        <p:cNvPr id="1" name=""/>
        <p:cNvGrpSpPr/>
        <p:nvPr/>
      </p:nvGrpSpPr>
      <p:grpSpPr/>
      <p:sp>
        <p:nvSpPr>
          <p:cNvPr id="2" name="TextBox 1"/>
          <p:cNvSpPr txBox="1"/>
          <p:nvPr/>
        </p:nvSpPr>
        <p:spPr>
          <a:xfrm>
            <a:off x="731520" y="274320"/>
            <a:ext cx="10058400" cy="502920"/>
          </a:xfrm>
          <a:prstGeom prst="rect">
            <a:avLst/>
          </a:prstGeom>
          <a:noFill/>
        </p:spPr>
        <p:txBody>
          <a:bodyPr wrap="square">
            <a:spAutoFit/>
          </a:bodyPr>
          <a:lstStyle/>
          <a:p>
            <a:pPr algn="l">
              <a:defRPr sz="2800" b="1">
                <a:solidFill>
                  <a:srgbClr val="1F2937"/>
                </a:solidFill>
                <a:latin typeface="Microsoft YaHei"/>
              </a:defRPr>
            </a:pPr>
            <a:r>
              <a:t>📝 选择题（4道）—— 覆盖所有角度</a:t>
            </a:r>
          </a:p>
        </p:txBody>
      </p:sp>
      <p:sp>
        <p:nvSpPr>
          <p:cNvPr id="3" name="Rounded Rectangle 2"/>
          <p:cNvSpPr/>
          <p:nvPr/>
        </p:nvSpPr>
        <p:spPr>
          <a:xfrm>
            <a:off x="457200" y="1005840"/>
            <a:ext cx="5486400" cy="2697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0"/>
            <a:ext cx="5029200" cy="274320"/>
          </a:xfrm>
          <a:prstGeom prst="rect">
            <a:avLst/>
          </a:prstGeom>
          <a:noFill/>
        </p:spPr>
        <p:txBody>
          <a:bodyPr wrap="square">
            <a:spAutoFit/>
          </a:bodyPr>
          <a:lstStyle/>
          <a:p>
            <a:pPr algn="l">
              <a:defRPr sz="1100" b="1">
                <a:solidFill>
                  <a:srgbClr val="4F46E5"/>
                </a:solidFill>
                <a:latin typeface="Microsoft YaHei"/>
              </a:defRPr>
            </a:pPr>
            <a:r>
              <a:t>第1题 · 定义角度</a:t>
            </a:r>
          </a:p>
        </p:txBody>
      </p:sp>
      <p:sp>
        <p:nvSpPr>
          <p:cNvPr id="5" name="TextBox 4"/>
          <p:cNvSpPr txBox="1"/>
          <p:nvPr/>
        </p:nvSpPr>
        <p:spPr>
          <a:xfrm>
            <a:off x="640080" y="1389888"/>
            <a:ext cx="5029200" cy="502920"/>
          </a:xfrm>
          <a:prstGeom prst="rect">
            <a:avLst/>
          </a:prstGeom>
          <a:noFill/>
        </p:spPr>
        <p:txBody>
          <a:bodyPr wrap="square">
            <a:spAutoFit/>
          </a:bodyPr>
          <a:lstStyle/>
          <a:p>
            <a:pPr algn="l">
              <a:defRPr sz="1500" b="1">
                <a:solidFill>
                  <a:srgbClr val="1F2937"/>
                </a:solidFill>
                <a:latin typeface="Microsoft YaHei"/>
              </a:defRPr>
            </a:pPr>
            <a:r>
              <a:t>生态系统的营养结构是指什么？</a:t>
            </a:r>
          </a:p>
        </p:txBody>
      </p:sp>
      <p:sp>
        <p:nvSpPr>
          <p:cNvPr id="6" name="TextBox 5"/>
          <p:cNvSpPr txBox="1"/>
          <p:nvPr/>
        </p:nvSpPr>
        <p:spPr>
          <a:xfrm>
            <a:off x="777240" y="2011680"/>
            <a:ext cx="4754880" cy="320040"/>
          </a:xfrm>
          <a:prstGeom prst="rect">
            <a:avLst/>
          </a:prstGeom>
          <a:noFill/>
        </p:spPr>
        <p:txBody>
          <a:bodyPr wrap="square">
            <a:spAutoFit/>
          </a:bodyPr>
          <a:lstStyle/>
          <a:p>
            <a:pPr algn="l">
              <a:defRPr sz="1200" b="0">
                <a:solidFill>
                  <a:srgbClr val="333333"/>
                </a:solidFill>
                <a:latin typeface="Microsoft YaHei"/>
              </a:defRPr>
            </a:pPr>
            <a:r>
              <a:t>A. 生态系统中各物种的种群数量比例关系</a:t>
            </a:r>
          </a:p>
        </p:txBody>
      </p:sp>
      <p:sp>
        <p:nvSpPr>
          <p:cNvPr id="7" name="TextBox 6"/>
          <p:cNvSpPr txBox="1"/>
          <p:nvPr/>
        </p:nvSpPr>
        <p:spPr>
          <a:xfrm>
            <a:off x="777240" y="2359152"/>
            <a:ext cx="4754880" cy="320040"/>
          </a:xfrm>
          <a:prstGeom prst="rect">
            <a:avLst/>
          </a:prstGeom>
          <a:noFill/>
        </p:spPr>
        <p:txBody>
          <a:bodyPr wrap="square">
            <a:spAutoFit/>
          </a:bodyPr>
          <a:lstStyle/>
          <a:p>
            <a:pPr algn="l">
              <a:defRPr sz="1200" b="0">
                <a:solidFill>
                  <a:srgbClr val="10B981"/>
                </a:solidFill>
                <a:latin typeface="Microsoft YaHei"/>
              </a:defRPr>
            </a:pPr>
            <a:r>
              <a:t>B. 生态系统中生物成分之间通过食物关系连接而成的食物链网结构，以及营养物质在不同环节的组配结构</a:t>
            </a:r>
          </a:p>
        </p:txBody>
      </p:sp>
      <p:sp>
        <p:nvSpPr>
          <p:cNvPr id="8" name="TextBox 7"/>
          <p:cNvSpPr txBox="1"/>
          <p:nvPr/>
        </p:nvSpPr>
        <p:spPr>
          <a:xfrm>
            <a:off x="777240" y="2706624"/>
            <a:ext cx="4754880" cy="320040"/>
          </a:xfrm>
          <a:prstGeom prst="rect">
            <a:avLst/>
          </a:prstGeom>
          <a:noFill/>
        </p:spPr>
        <p:txBody>
          <a:bodyPr wrap="square">
            <a:spAutoFit/>
          </a:bodyPr>
          <a:lstStyle/>
          <a:p>
            <a:pPr algn="l">
              <a:defRPr sz="1200" b="0">
                <a:solidFill>
                  <a:srgbClr val="333333"/>
                </a:solidFill>
                <a:latin typeface="Microsoft YaHei"/>
              </a:defRPr>
            </a:pPr>
            <a:r>
              <a:t>C. 生态系统中能量流动的方向和效率</a:t>
            </a:r>
          </a:p>
        </p:txBody>
      </p:sp>
      <p:sp>
        <p:nvSpPr>
          <p:cNvPr id="9" name="TextBox 8"/>
          <p:cNvSpPr txBox="1"/>
          <p:nvPr/>
        </p:nvSpPr>
        <p:spPr>
          <a:xfrm>
            <a:off x="777240" y="3054096"/>
            <a:ext cx="4754880" cy="320040"/>
          </a:xfrm>
          <a:prstGeom prst="rect">
            <a:avLst/>
          </a:prstGeom>
          <a:noFill/>
        </p:spPr>
        <p:txBody>
          <a:bodyPr wrap="square">
            <a:spAutoFit/>
          </a:bodyPr>
          <a:lstStyle/>
          <a:p>
            <a:pPr algn="l">
              <a:defRPr sz="1200" b="0">
                <a:solidFill>
                  <a:srgbClr val="333333"/>
                </a:solidFill>
                <a:latin typeface="Microsoft YaHei"/>
              </a:defRPr>
            </a:pPr>
            <a:r>
              <a:t>D. 生态系统中生物与无机环境之间的物质循环关系</a:t>
            </a:r>
          </a:p>
        </p:txBody>
      </p:sp>
      <p:sp>
        <p:nvSpPr>
          <p:cNvPr id="10" name="TextBox 9"/>
          <p:cNvSpPr txBox="1"/>
          <p:nvPr/>
        </p:nvSpPr>
        <p:spPr>
          <a:xfrm>
            <a:off x="640080" y="3337560"/>
            <a:ext cx="5029200" cy="320040"/>
          </a:xfrm>
          <a:prstGeom prst="rect">
            <a:avLst/>
          </a:prstGeom>
          <a:noFill/>
        </p:spPr>
        <p:txBody>
          <a:bodyPr wrap="square">
            <a:spAutoFit/>
          </a:bodyPr>
          <a:lstStyle/>
          <a:p>
            <a:pPr algn="l">
              <a:defRPr sz="1000" b="0">
                <a:solidFill>
                  <a:srgbClr val="999999"/>
                </a:solidFill>
                <a:latin typeface="Microsoft YaHei"/>
              </a:defRPr>
            </a:pPr>
            <a:r>
              <a:t>💡 A是群落结构，C是能量流动，D是物质循环——都是生态系统重要特征，但营养结构特指食物链网和营养组配。</a:t>
            </a:r>
          </a:p>
        </p:txBody>
      </p:sp>
      <p:sp>
        <p:nvSpPr>
          <p:cNvPr id="11" name="Rounded Rectangle 10"/>
          <p:cNvSpPr/>
          <p:nvPr/>
        </p:nvSpPr>
        <p:spPr>
          <a:xfrm>
            <a:off x="6217920" y="1005840"/>
            <a:ext cx="5486400" cy="2697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097280"/>
            <a:ext cx="5029200" cy="274320"/>
          </a:xfrm>
          <a:prstGeom prst="rect">
            <a:avLst/>
          </a:prstGeom>
          <a:noFill/>
        </p:spPr>
        <p:txBody>
          <a:bodyPr wrap="square">
            <a:spAutoFit/>
          </a:bodyPr>
          <a:lstStyle/>
          <a:p>
            <a:pPr algn="l">
              <a:defRPr sz="1100" b="1">
                <a:solidFill>
                  <a:srgbClr val="4F46E5"/>
                </a:solidFill>
                <a:latin typeface="Microsoft YaHei"/>
              </a:defRPr>
            </a:pPr>
            <a:r>
              <a:t>第2题 · 功能群角度</a:t>
            </a:r>
          </a:p>
        </p:txBody>
      </p:sp>
      <p:sp>
        <p:nvSpPr>
          <p:cNvPr id="13" name="TextBox 12"/>
          <p:cNvSpPr txBox="1"/>
          <p:nvPr/>
        </p:nvSpPr>
        <p:spPr>
          <a:xfrm>
            <a:off x="6400800" y="1389888"/>
            <a:ext cx="5029200" cy="502920"/>
          </a:xfrm>
          <a:prstGeom prst="rect">
            <a:avLst/>
          </a:prstGeom>
          <a:noFill/>
        </p:spPr>
        <p:txBody>
          <a:bodyPr wrap="square">
            <a:spAutoFit/>
          </a:bodyPr>
          <a:lstStyle/>
          <a:p>
            <a:pPr algn="l">
              <a:defRPr sz="1500" b="1">
                <a:solidFill>
                  <a:srgbClr val="1F2937"/>
                </a:solidFill>
                <a:latin typeface="Microsoft YaHei"/>
              </a:defRPr>
            </a:pPr>
            <a:r>
              <a:t>营养结构涉及的生态功能群包括？</a:t>
            </a:r>
          </a:p>
        </p:txBody>
      </p:sp>
      <p:sp>
        <p:nvSpPr>
          <p:cNvPr id="14" name="TextBox 13"/>
          <p:cNvSpPr txBox="1"/>
          <p:nvPr/>
        </p:nvSpPr>
        <p:spPr>
          <a:xfrm>
            <a:off x="6537960" y="2011680"/>
            <a:ext cx="4754880" cy="320040"/>
          </a:xfrm>
          <a:prstGeom prst="rect">
            <a:avLst/>
          </a:prstGeom>
          <a:noFill/>
        </p:spPr>
        <p:txBody>
          <a:bodyPr wrap="square">
            <a:spAutoFit/>
          </a:bodyPr>
          <a:lstStyle/>
          <a:p>
            <a:pPr algn="l">
              <a:defRPr sz="1200" b="0">
                <a:solidFill>
                  <a:srgbClr val="333333"/>
                </a:solidFill>
                <a:latin typeface="Microsoft YaHei"/>
              </a:defRPr>
            </a:pPr>
            <a:r>
              <a:t>A. 植物、动物、微生物</a:t>
            </a:r>
          </a:p>
        </p:txBody>
      </p:sp>
      <p:sp>
        <p:nvSpPr>
          <p:cNvPr id="15" name="TextBox 14"/>
          <p:cNvSpPr txBox="1"/>
          <p:nvPr/>
        </p:nvSpPr>
        <p:spPr>
          <a:xfrm>
            <a:off x="6537960" y="2359152"/>
            <a:ext cx="4754880" cy="320040"/>
          </a:xfrm>
          <a:prstGeom prst="rect">
            <a:avLst/>
          </a:prstGeom>
          <a:noFill/>
        </p:spPr>
        <p:txBody>
          <a:bodyPr wrap="square">
            <a:spAutoFit/>
          </a:bodyPr>
          <a:lstStyle/>
          <a:p>
            <a:pPr algn="l">
              <a:defRPr sz="1200" b="0">
                <a:solidFill>
                  <a:srgbClr val="10B981"/>
                </a:solidFill>
                <a:latin typeface="Microsoft YaHei"/>
              </a:defRPr>
            </a:pPr>
            <a:r>
              <a:t>B. 生产者、消费者和分解者</a:t>
            </a:r>
          </a:p>
        </p:txBody>
      </p:sp>
      <p:sp>
        <p:nvSpPr>
          <p:cNvPr id="16" name="TextBox 15"/>
          <p:cNvSpPr txBox="1"/>
          <p:nvPr/>
        </p:nvSpPr>
        <p:spPr>
          <a:xfrm>
            <a:off x="6537960" y="2706624"/>
            <a:ext cx="4754880" cy="320040"/>
          </a:xfrm>
          <a:prstGeom prst="rect">
            <a:avLst/>
          </a:prstGeom>
          <a:noFill/>
        </p:spPr>
        <p:txBody>
          <a:bodyPr wrap="square">
            <a:spAutoFit/>
          </a:bodyPr>
          <a:lstStyle/>
          <a:p>
            <a:pPr algn="l">
              <a:defRPr sz="1200" b="0">
                <a:solidFill>
                  <a:srgbClr val="333333"/>
                </a:solidFill>
                <a:latin typeface="Microsoft YaHei"/>
              </a:defRPr>
            </a:pPr>
            <a:r>
              <a:t>C. 自养生物、异养生物和寄生生物</a:t>
            </a:r>
          </a:p>
        </p:txBody>
      </p:sp>
      <p:sp>
        <p:nvSpPr>
          <p:cNvPr id="17" name="TextBox 16"/>
          <p:cNvSpPr txBox="1"/>
          <p:nvPr/>
        </p:nvSpPr>
        <p:spPr>
          <a:xfrm>
            <a:off x="6537960" y="3054096"/>
            <a:ext cx="4754880" cy="320040"/>
          </a:xfrm>
          <a:prstGeom prst="rect">
            <a:avLst/>
          </a:prstGeom>
          <a:noFill/>
        </p:spPr>
        <p:txBody>
          <a:bodyPr wrap="square">
            <a:spAutoFit/>
          </a:bodyPr>
          <a:lstStyle/>
          <a:p>
            <a:pPr algn="l">
              <a:defRPr sz="1200" b="0">
                <a:solidFill>
                  <a:srgbClr val="333333"/>
                </a:solidFill>
                <a:latin typeface="Microsoft YaHei"/>
              </a:defRPr>
            </a:pPr>
            <a:r>
              <a:t>D. 初级生产者、次级生产者和三级生产者</a:t>
            </a:r>
          </a:p>
        </p:txBody>
      </p:sp>
      <p:sp>
        <p:nvSpPr>
          <p:cNvPr id="18" name="TextBox 17"/>
          <p:cNvSpPr txBox="1"/>
          <p:nvPr/>
        </p:nvSpPr>
        <p:spPr>
          <a:xfrm>
            <a:off x="6400800" y="3337560"/>
            <a:ext cx="5029200" cy="320040"/>
          </a:xfrm>
          <a:prstGeom prst="rect">
            <a:avLst/>
          </a:prstGeom>
          <a:noFill/>
        </p:spPr>
        <p:txBody>
          <a:bodyPr wrap="square">
            <a:spAutoFit/>
          </a:bodyPr>
          <a:lstStyle/>
          <a:p>
            <a:pPr algn="l">
              <a:defRPr sz="1000" b="0">
                <a:solidFill>
                  <a:srgbClr val="999999"/>
                </a:solidFill>
                <a:latin typeface="Microsoft YaHei"/>
              </a:defRPr>
            </a:pPr>
            <a:r>
              <a:t>💡 A按分类学划分非功能群，C中寄生生物属消费者，D非标准分类。</a:t>
            </a:r>
          </a:p>
        </p:txBody>
      </p:sp>
      <p:sp>
        <p:nvSpPr>
          <p:cNvPr id="19" name="Rounded Rectangle 18"/>
          <p:cNvSpPr/>
          <p:nvPr/>
        </p:nvSpPr>
        <p:spPr>
          <a:xfrm>
            <a:off x="457200" y="3886200"/>
            <a:ext cx="5486400" cy="2697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977640"/>
            <a:ext cx="5029200" cy="274320"/>
          </a:xfrm>
          <a:prstGeom prst="rect">
            <a:avLst/>
          </a:prstGeom>
          <a:noFill/>
        </p:spPr>
        <p:txBody>
          <a:bodyPr wrap="square">
            <a:spAutoFit/>
          </a:bodyPr>
          <a:lstStyle/>
          <a:p>
            <a:pPr algn="l">
              <a:defRPr sz="1100" b="1">
                <a:solidFill>
                  <a:srgbClr val="4F46E5"/>
                </a:solidFill>
                <a:latin typeface="Microsoft YaHei"/>
              </a:defRPr>
            </a:pPr>
            <a:r>
              <a:t>第3题 · 结构层次角度</a:t>
            </a:r>
          </a:p>
        </p:txBody>
      </p:sp>
      <p:sp>
        <p:nvSpPr>
          <p:cNvPr id="21" name="TextBox 20"/>
          <p:cNvSpPr txBox="1"/>
          <p:nvPr/>
        </p:nvSpPr>
        <p:spPr>
          <a:xfrm>
            <a:off x="640080" y="4270248"/>
            <a:ext cx="5029200" cy="502920"/>
          </a:xfrm>
          <a:prstGeom prst="rect">
            <a:avLst/>
          </a:prstGeom>
          <a:noFill/>
        </p:spPr>
        <p:txBody>
          <a:bodyPr wrap="square">
            <a:spAutoFit/>
          </a:bodyPr>
          <a:lstStyle/>
          <a:p>
            <a:pPr algn="l">
              <a:defRPr sz="1500" b="1">
                <a:solidFill>
                  <a:srgbClr val="1F2937"/>
                </a:solidFill>
                <a:latin typeface="Microsoft YaHei"/>
              </a:defRPr>
            </a:pPr>
            <a:r>
              <a:t>营养结构包含哪两个方面的结构？</a:t>
            </a:r>
          </a:p>
        </p:txBody>
      </p:sp>
      <p:sp>
        <p:nvSpPr>
          <p:cNvPr id="22" name="TextBox 21"/>
          <p:cNvSpPr txBox="1"/>
          <p:nvPr/>
        </p:nvSpPr>
        <p:spPr>
          <a:xfrm>
            <a:off x="777240" y="4892040"/>
            <a:ext cx="4754880" cy="320040"/>
          </a:xfrm>
          <a:prstGeom prst="rect">
            <a:avLst/>
          </a:prstGeom>
          <a:noFill/>
        </p:spPr>
        <p:txBody>
          <a:bodyPr wrap="square">
            <a:spAutoFit/>
          </a:bodyPr>
          <a:lstStyle/>
          <a:p>
            <a:pPr algn="l">
              <a:defRPr sz="1200" b="0">
                <a:solidFill>
                  <a:srgbClr val="333333"/>
                </a:solidFill>
                <a:latin typeface="Microsoft YaHei"/>
              </a:defRPr>
            </a:pPr>
            <a:r>
              <a:t>A. 垂直结构和水平结构</a:t>
            </a:r>
          </a:p>
        </p:txBody>
      </p:sp>
      <p:sp>
        <p:nvSpPr>
          <p:cNvPr id="23" name="TextBox 22"/>
          <p:cNvSpPr txBox="1"/>
          <p:nvPr/>
        </p:nvSpPr>
        <p:spPr>
          <a:xfrm>
            <a:off x="777240" y="5239512"/>
            <a:ext cx="4754880" cy="320040"/>
          </a:xfrm>
          <a:prstGeom prst="rect">
            <a:avLst/>
          </a:prstGeom>
          <a:noFill/>
        </p:spPr>
        <p:txBody>
          <a:bodyPr wrap="square">
            <a:spAutoFit/>
          </a:bodyPr>
          <a:lstStyle/>
          <a:p>
            <a:pPr algn="l">
              <a:defRPr sz="1200" b="0">
                <a:solidFill>
                  <a:srgbClr val="10B981"/>
                </a:solidFill>
                <a:latin typeface="Microsoft YaHei"/>
              </a:defRPr>
            </a:pPr>
            <a:r>
              <a:t>B. 食物链网结构和营养物质在不同环节的组配结构</a:t>
            </a:r>
          </a:p>
        </p:txBody>
      </p:sp>
      <p:sp>
        <p:nvSpPr>
          <p:cNvPr id="24" name="TextBox 23"/>
          <p:cNvSpPr txBox="1"/>
          <p:nvPr/>
        </p:nvSpPr>
        <p:spPr>
          <a:xfrm>
            <a:off x="777240" y="5586984"/>
            <a:ext cx="4754880" cy="320040"/>
          </a:xfrm>
          <a:prstGeom prst="rect">
            <a:avLst/>
          </a:prstGeom>
          <a:noFill/>
        </p:spPr>
        <p:txBody>
          <a:bodyPr wrap="square">
            <a:spAutoFit/>
          </a:bodyPr>
          <a:lstStyle/>
          <a:p>
            <a:pPr algn="l">
              <a:defRPr sz="1200" b="0">
                <a:solidFill>
                  <a:srgbClr val="333333"/>
                </a:solidFill>
                <a:latin typeface="Microsoft YaHei"/>
              </a:defRPr>
            </a:pPr>
            <a:r>
              <a:t>C. 年龄结构和性别结构</a:t>
            </a:r>
          </a:p>
        </p:txBody>
      </p:sp>
      <p:sp>
        <p:nvSpPr>
          <p:cNvPr id="25" name="TextBox 24"/>
          <p:cNvSpPr txBox="1"/>
          <p:nvPr/>
        </p:nvSpPr>
        <p:spPr>
          <a:xfrm>
            <a:off x="777240" y="5934456"/>
            <a:ext cx="4754880" cy="320040"/>
          </a:xfrm>
          <a:prstGeom prst="rect">
            <a:avLst/>
          </a:prstGeom>
          <a:noFill/>
        </p:spPr>
        <p:txBody>
          <a:bodyPr wrap="square">
            <a:spAutoFit/>
          </a:bodyPr>
          <a:lstStyle/>
          <a:p>
            <a:pPr algn="l">
              <a:defRPr sz="1200" b="0">
                <a:solidFill>
                  <a:srgbClr val="333333"/>
                </a:solidFill>
                <a:latin typeface="Microsoft YaHei"/>
              </a:defRPr>
            </a:pPr>
            <a:r>
              <a:t>D. 空间结构和时间结构</a:t>
            </a:r>
          </a:p>
        </p:txBody>
      </p:sp>
      <p:sp>
        <p:nvSpPr>
          <p:cNvPr id="26" name="TextBox 25"/>
          <p:cNvSpPr txBox="1"/>
          <p:nvPr/>
        </p:nvSpPr>
        <p:spPr>
          <a:xfrm>
            <a:off x="640080" y="6217920"/>
            <a:ext cx="5029200" cy="320040"/>
          </a:xfrm>
          <a:prstGeom prst="rect">
            <a:avLst/>
          </a:prstGeom>
          <a:noFill/>
        </p:spPr>
        <p:txBody>
          <a:bodyPr wrap="square">
            <a:spAutoFit/>
          </a:bodyPr>
          <a:lstStyle/>
          <a:p>
            <a:pPr algn="l">
              <a:defRPr sz="1000" b="0">
                <a:solidFill>
                  <a:srgbClr val="999999"/>
                </a:solidFill>
                <a:latin typeface="Microsoft YaHei"/>
              </a:defRPr>
            </a:pPr>
            <a:r>
              <a:t>💡 A是群落空间结构，C是种群结构。营养结构的两面：谁吃谁的链条+营养如何分配。</a:t>
            </a:r>
          </a:p>
        </p:txBody>
      </p:sp>
      <p:sp>
        <p:nvSpPr>
          <p:cNvPr id="27" name="Rounded Rectangle 26"/>
          <p:cNvSpPr/>
          <p:nvPr/>
        </p:nvSpPr>
        <p:spPr>
          <a:xfrm>
            <a:off x="6217920" y="3886200"/>
            <a:ext cx="5486400" cy="2697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3977640"/>
            <a:ext cx="5029200" cy="274320"/>
          </a:xfrm>
          <a:prstGeom prst="rect">
            <a:avLst/>
          </a:prstGeom>
          <a:noFill/>
        </p:spPr>
        <p:txBody>
          <a:bodyPr wrap="square">
            <a:spAutoFit/>
          </a:bodyPr>
          <a:lstStyle/>
          <a:p>
            <a:pPr algn="l">
              <a:defRPr sz="1100" b="1">
                <a:solidFill>
                  <a:srgbClr val="4F46E5"/>
                </a:solidFill>
                <a:latin typeface="Microsoft YaHei"/>
              </a:defRPr>
            </a:pPr>
            <a:r>
              <a:t>第4题 · 连接机制角度</a:t>
            </a:r>
          </a:p>
        </p:txBody>
      </p:sp>
      <p:sp>
        <p:nvSpPr>
          <p:cNvPr id="29" name="TextBox 28"/>
          <p:cNvSpPr txBox="1"/>
          <p:nvPr/>
        </p:nvSpPr>
        <p:spPr>
          <a:xfrm>
            <a:off x="6400800" y="4270248"/>
            <a:ext cx="5029200" cy="502920"/>
          </a:xfrm>
          <a:prstGeom prst="rect">
            <a:avLst/>
          </a:prstGeom>
          <a:noFill/>
        </p:spPr>
        <p:txBody>
          <a:bodyPr wrap="square">
            <a:spAutoFit/>
          </a:bodyPr>
          <a:lstStyle/>
          <a:p>
            <a:pPr algn="l">
              <a:defRPr sz="1500" b="1">
                <a:solidFill>
                  <a:srgbClr val="1F2937"/>
                </a:solidFill>
                <a:latin typeface="Microsoft YaHei"/>
              </a:defRPr>
            </a:pPr>
            <a:r>
              <a:t>各生物成分之间通过什么关系依次连接？</a:t>
            </a:r>
          </a:p>
        </p:txBody>
      </p:sp>
      <p:sp>
        <p:nvSpPr>
          <p:cNvPr id="30" name="TextBox 29"/>
          <p:cNvSpPr txBox="1"/>
          <p:nvPr/>
        </p:nvSpPr>
        <p:spPr>
          <a:xfrm>
            <a:off x="6537960" y="4892040"/>
            <a:ext cx="4754880" cy="320040"/>
          </a:xfrm>
          <a:prstGeom prst="rect">
            <a:avLst/>
          </a:prstGeom>
          <a:noFill/>
        </p:spPr>
        <p:txBody>
          <a:bodyPr wrap="square">
            <a:spAutoFit/>
          </a:bodyPr>
          <a:lstStyle/>
          <a:p>
            <a:pPr algn="l">
              <a:defRPr sz="1200" b="0">
                <a:solidFill>
                  <a:srgbClr val="333333"/>
                </a:solidFill>
                <a:latin typeface="Microsoft YaHei"/>
              </a:defRPr>
            </a:pPr>
            <a:r>
              <a:t>A. 竞争关系</a:t>
            </a:r>
          </a:p>
        </p:txBody>
      </p:sp>
      <p:sp>
        <p:nvSpPr>
          <p:cNvPr id="31" name="TextBox 30"/>
          <p:cNvSpPr txBox="1"/>
          <p:nvPr/>
        </p:nvSpPr>
        <p:spPr>
          <a:xfrm>
            <a:off x="6537960" y="5239512"/>
            <a:ext cx="4754880" cy="320040"/>
          </a:xfrm>
          <a:prstGeom prst="rect">
            <a:avLst/>
          </a:prstGeom>
          <a:noFill/>
        </p:spPr>
        <p:txBody>
          <a:bodyPr wrap="square">
            <a:spAutoFit/>
          </a:bodyPr>
          <a:lstStyle/>
          <a:p>
            <a:pPr algn="l">
              <a:defRPr sz="1200" b="0">
                <a:solidFill>
                  <a:srgbClr val="333333"/>
                </a:solidFill>
                <a:latin typeface="Microsoft YaHei"/>
              </a:defRPr>
            </a:pPr>
            <a:r>
              <a:t>B. 共生关系</a:t>
            </a:r>
          </a:p>
        </p:txBody>
      </p:sp>
      <p:sp>
        <p:nvSpPr>
          <p:cNvPr id="32" name="TextBox 31"/>
          <p:cNvSpPr txBox="1"/>
          <p:nvPr/>
        </p:nvSpPr>
        <p:spPr>
          <a:xfrm>
            <a:off x="6537960" y="5586984"/>
            <a:ext cx="4754880" cy="320040"/>
          </a:xfrm>
          <a:prstGeom prst="rect">
            <a:avLst/>
          </a:prstGeom>
          <a:noFill/>
        </p:spPr>
        <p:txBody>
          <a:bodyPr wrap="square">
            <a:spAutoFit/>
          </a:bodyPr>
          <a:lstStyle/>
          <a:p>
            <a:pPr algn="l">
              <a:defRPr sz="1200" b="0">
                <a:solidFill>
                  <a:srgbClr val="10B981"/>
                </a:solidFill>
                <a:latin typeface="Microsoft YaHei"/>
              </a:defRPr>
            </a:pPr>
            <a:r>
              <a:t>C. 吃与被吃的食物关系，以营养为纽带</a:t>
            </a:r>
          </a:p>
        </p:txBody>
      </p:sp>
      <p:sp>
        <p:nvSpPr>
          <p:cNvPr id="33" name="TextBox 32"/>
          <p:cNvSpPr txBox="1"/>
          <p:nvPr/>
        </p:nvSpPr>
        <p:spPr>
          <a:xfrm>
            <a:off x="6537960" y="5934456"/>
            <a:ext cx="4754880" cy="320040"/>
          </a:xfrm>
          <a:prstGeom prst="rect">
            <a:avLst/>
          </a:prstGeom>
          <a:noFill/>
        </p:spPr>
        <p:txBody>
          <a:bodyPr wrap="square">
            <a:spAutoFit/>
          </a:bodyPr>
          <a:lstStyle/>
          <a:p>
            <a:pPr algn="l">
              <a:defRPr sz="1200" b="0">
                <a:solidFill>
                  <a:srgbClr val="333333"/>
                </a:solidFill>
                <a:latin typeface="Microsoft YaHei"/>
              </a:defRPr>
            </a:pPr>
            <a:r>
              <a:t>D. 寄生关系</a:t>
            </a:r>
          </a:p>
        </p:txBody>
      </p:sp>
      <p:sp>
        <p:nvSpPr>
          <p:cNvPr id="34" name="TextBox 33"/>
          <p:cNvSpPr txBox="1"/>
          <p:nvPr/>
        </p:nvSpPr>
        <p:spPr>
          <a:xfrm>
            <a:off x="6400800" y="6217920"/>
            <a:ext cx="5029200" cy="320040"/>
          </a:xfrm>
          <a:prstGeom prst="rect">
            <a:avLst/>
          </a:prstGeom>
          <a:noFill/>
        </p:spPr>
        <p:txBody>
          <a:bodyPr wrap="square">
            <a:spAutoFit/>
          </a:bodyPr>
          <a:lstStyle/>
          <a:p>
            <a:pPr algn="l">
              <a:defRPr sz="1000" b="0">
                <a:solidFill>
                  <a:srgbClr val="999999"/>
                </a:solidFill>
                <a:latin typeface="Microsoft YaHei"/>
              </a:defRPr>
            </a:pPr>
            <a:r>
              <a:t>💡 原文明确表述"通过吃与被吃的食物关系以营养为纽带依次连接"。</a:t>
            </a:r>
          </a:p>
        </p:txBody>
      </p:sp>
      <p:sp>
        <p:nvSpPr>
          <p:cNvPr id="35" name="TextBox 34"/>
          <p:cNvSpPr txBox="1"/>
          <p:nvPr/>
        </p:nvSpPr>
        <p:spPr>
          <a:xfrm>
            <a:off x="11247120" y="6446520"/>
            <a:ext cx="822960" cy="320040"/>
          </a:xfrm>
          <a:prstGeom prst="rect">
            <a:avLst/>
          </a:prstGeom>
          <a:noFill/>
        </p:spPr>
        <p:txBody>
          <a:bodyPr wrap="square">
            <a:spAutoFit/>
          </a:bodyPr>
          <a:lstStyle/>
          <a:p>
            <a:pPr algn="r">
              <a:defRPr sz="1000" b="0">
                <a:solidFill>
                  <a:srgbClr val="999999"/>
                </a:solidFill>
                <a:latin typeface="Microsoft YaHei"/>
              </a:defRPr>
            </a:pPr>
            <a:r>
              <a:t>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C"/>
        </a:solidFill>
        <a:effectLst/>
      </p:bgPr>
    </p:bg>
    <p:spTree>
      <p:nvGrpSpPr>
        <p:cNvPr id="1" name=""/>
        <p:cNvGrpSpPr/>
        <p:nvPr/>
      </p:nvGrpSpPr>
      <p:grpSpPr/>
      <p:sp>
        <p:nvSpPr>
          <p:cNvPr id="2" name="TextBox 1"/>
          <p:cNvSpPr txBox="1"/>
          <p:nvPr/>
        </p:nvSpPr>
        <p:spPr>
          <a:xfrm>
            <a:off x="731520" y="274320"/>
            <a:ext cx="10058400" cy="502920"/>
          </a:xfrm>
          <a:prstGeom prst="rect">
            <a:avLst/>
          </a:prstGeom>
          <a:noFill/>
        </p:spPr>
        <p:txBody>
          <a:bodyPr wrap="square">
            <a:spAutoFit/>
          </a:bodyPr>
          <a:lstStyle/>
          <a:p>
            <a:pPr algn="l">
              <a:defRPr sz="2800" b="1">
                <a:solidFill>
                  <a:srgbClr val="1F2937"/>
                </a:solidFill>
                <a:latin typeface="Microsoft YaHei"/>
              </a:defRPr>
            </a:pPr>
            <a:r>
              <a:t>✏️ 填空题（3道）—— 升级含关键术语的角度</a:t>
            </a:r>
          </a:p>
        </p:txBody>
      </p:sp>
      <p:sp>
        <p:nvSpPr>
          <p:cNvPr id="3" name="Rounded Rectangle 2"/>
          <p:cNvSpPr/>
          <p:nvPr/>
        </p:nvSpPr>
        <p:spPr>
          <a:xfrm>
            <a:off x="731520" y="1005840"/>
            <a:ext cx="1060704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115568"/>
            <a:ext cx="9601200" cy="274320"/>
          </a:xfrm>
          <a:prstGeom prst="rect">
            <a:avLst/>
          </a:prstGeom>
          <a:noFill/>
        </p:spPr>
        <p:txBody>
          <a:bodyPr wrap="square">
            <a:spAutoFit/>
          </a:bodyPr>
          <a:lstStyle/>
          <a:p>
            <a:pPr algn="l">
              <a:defRPr sz="1200" b="1">
                <a:solidFill>
                  <a:srgbClr val="F59E0B"/>
                </a:solidFill>
                <a:latin typeface="Microsoft YaHei"/>
              </a:defRPr>
            </a:pPr>
            <a:r>
              <a:t>第1题 · 定义角度升级</a:t>
            </a:r>
          </a:p>
        </p:txBody>
      </p:sp>
      <p:sp>
        <p:nvSpPr>
          <p:cNvPr id="5" name="TextBox 4"/>
          <p:cNvSpPr txBox="1"/>
          <p:nvPr/>
        </p:nvSpPr>
        <p:spPr>
          <a:xfrm>
            <a:off x="1005840" y="1463040"/>
            <a:ext cx="9601200" cy="640080"/>
          </a:xfrm>
          <a:prstGeom prst="rect">
            <a:avLst/>
          </a:prstGeom>
          <a:noFill/>
        </p:spPr>
        <p:txBody>
          <a:bodyPr wrap="square">
            <a:spAutoFit/>
          </a:bodyPr>
          <a:lstStyle/>
          <a:p>
            <a:pPr algn="l">
              <a:defRPr sz="1500" b="0">
                <a:solidFill>
                  <a:srgbClr val="1F2937"/>
                </a:solidFill>
                <a:latin typeface="Microsoft YaHei"/>
              </a:defRPr>
            </a:pPr>
            <a:r>
              <a:t>生态系统的________是指各种生物成分之间通过食物关系以营养为纽带依次连接而成的食物链网结构，以及营养物质在不同环节的组配结构。</a:t>
            </a:r>
          </a:p>
        </p:txBody>
      </p:sp>
      <p:sp>
        <p:nvSpPr>
          <p:cNvPr id="6" name="Rounded Rectangle 5"/>
          <p:cNvSpPr/>
          <p:nvPr/>
        </p:nvSpPr>
        <p:spPr>
          <a:xfrm>
            <a:off x="1005840" y="2148840"/>
            <a:ext cx="9601200" cy="411480"/>
          </a:xfrm>
          <a:prstGeom prst="round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176272"/>
            <a:ext cx="9144000" cy="347472"/>
          </a:xfrm>
          <a:prstGeom prst="rect">
            <a:avLst/>
          </a:prstGeom>
          <a:noFill/>
        </p:spPr>
        <p:txBody>
          <a:bodyPr wrap="square">
            <a:spAutoFit/>
          </a:bodyPr>
          <a:lstStyle/>
          <a:p>
            <a:pPr algn="l">
              <a:defRPr sz="1200" b="0">
                <a:solidFill>
                  <a:srgbClr val="10B981"/>
                </a:solidFill>
                <a:latin typeface="Microsoft YaHei"/>
              </a:defRPr>
            </a:pPr>
            <a:r>
              <a:t>答案：营养结构    |    💡 挖去核心概念，要求用户自主回忆定义名称。</a:t>
            </a:r>
          </a:p>
        </p:txBody>
      </p:sp>
      <p:sp>
        <p:nvSpPr>
          <p:cNvPr id="8" name="Rounded Rectangle 7"/>
          <p:cNvSpPr/>
          <p:nvPr/>
        </p:nvSpPr>
        <p:spPr>
          <a:xfrm>
            <a:off x="731520" y="2880360"/>
            <a:ext cx="1060704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990088"/>
            <a:ext cx="9601200" cy="274320"/>
          </a:xfrm>
          <a:prstGeom prst="rect">
            <a:avLst/>
          </a:prstGeom>
          <a:noFill/>
        </p:spPr>
        <p:txBody>
          <a:bodyPr wrap="square">
            <a:spAutoFit/>
          </a:bodyPr>
          <a:lstStyle/>
          <a:p>
            <a:pPr algn="l">
              <a:defRPr sz="1200" b="1">
                <a:solidFill>
                  <a:srgbClr val="F59E0B"/>
                </a:solidFill>
                <a:latin typeface="Microsoft YaHei"/>
              </a:defRPr>
            </a:pPr>
            <a:r>
              <a:t>第2题 · 功能群角度升级</a:t>
            </a:r>
          </a:p>
        </p:txBody>
      </p:sp>
      <p:sp>
        <p:nvSpPr>
          <p:cNvPr id="10" name="TextBox 9"/>
          <p:cNvSpPr txBox="1"/>
          <p:nvPr/>
        </p:nvSpPr>
        <p:spPr>
          <a:xfrm>
            <a:off x="1005840" y="3337560"/>
            <a:ext cx="9601200" cy="640080"/>
          </a:xfrm>
          <a:prstGeom prst="rect">
            <a:avLst/>
          </a:prstGeom>
          <a:noFill/>
        </p:spPr>
        <p:txBody>
          <a:bodyPr wrap="square">
            <a:spAutoFit/>
          </a:bodyPr>
          <a:lstStyle/>
          <a:p>
            <a:pPr algn="l">
              <a:defRPr sz="1500" b="0">
                <a:solidFill>
                  <a:srgbClr val="1F2937"/>
                </a:solidFill>
                <a:latin typeface="Microsoft YaHei"/>
              </a:defRPr>
            </a:pPr>
            <a:r>
              <a:t>生态系统中各生态功能群包括________、________和________，它们之间通过吃与被吃的关系依次连接。</a:t>
            </a:r>
          </a:p>
        </p:txBody>
      </p:sp>
      <p:sp>
        <p:nvSpPr>
          <p:cNvPr id="11" name="Rounded Rectangle 10"/>
          <p:cNvSpPr/>
          <p:nvPr/>
        </p:nvSpPr>
        <p:spPr>
          <a:xfrm>
            <a:off x="1005840" y="4023360"/>
            <a:ext cx="9601200" cy="411480"/>
          </a:xfrm>
          <a:prstGeom prst="round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050792"/>
            <a:ext cx="9144000" cy="347472"/>
          </a:xfrm>
          <a:prstGeom prst="rect">
            <a:avLst/>
          </a:prstGeom>
          <a:noFill/>
        </p:spPr>
        <p:txBody>
          <a:bodyPr wrap="square">
            <a:spAutoFit/>
          </a:bodyPr>
          <a:lstStyle/>
          <a:p>
            <a:pPr algn="l">
              <a:defRPr sz="1200" b="0">
                <a:solidFill>
                  <a:srgbClr val="10B981"/>
                </a:solidFill>
                <a:latin typeface="Microsoft YaHei"/>
              </a:defRPr>
            </a:pPr>
            <a:r>
              <a:t>答案：生产者、消费者、分解者    |    💡 挖去三个功能群名称，三个空必须全部正确才算对。</a:t>
            </a:r>
          </a:p>
        </p:txBody>
      </p:sp>
      <p:sp>
        <p:nvSpPr>
          <p:cNvPr id="13" name="Rounded Rectangle 12"/>
          <p:cNvSpPr/>
          <p:nvPr/>
        </p:nvSpPr>
        <p:spPr>
          <a:xfrm>
            <a:off x="731520" y="4754879"/>
            <a:ext cx="1060704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864607"/>
            <a:ext cx="9601200" cy="274320"/>
          </a:xfrm>
          <a:prstGeom prst="rect">
            <a:avLst/>
          </a:prstGeom>
          <a:noFill/>
        </p:spPr>
        <p:txBody>
          <a:bodyPr wrap="square">
            <a:spAutoFit/>
          </a:bodyPr>
          <a:lstStyle/>
          <a:p>
            <a:pPr algn="l">
              <a:defRPr sz="1200" b="1">
                <a:solidFill>
                  <a:srgbClr val="F59E0B"/>
                </a:solidFill>
                <a:latin typeface="Microsoft YaHei"/>
              </a:defRPr>
            </a:pPr>
            <a:r>
              <a:t>第3题 · 结构层次角度升级</a:t>
            </a:r>
          </a:p>
        </p:txBody>
      </p:sp>
      <p:sp>
        <p:nvSpPr>
          <p:cNvPr id="15" name="TextBox 14"/>
          <p:cNvSpPr txBox="1"/>
          <p:nvPr/>
        </p:nvSpPr>
        <p:spPr>
          <a:xfrm>
            <a:off x="1005840" y="5212079"/>
            <a:ext cx="9601200" cy="640080"/>
          </a:xfrm>
          <a:prstGeom prst="rect">
            <a:avLst/>
          </a:prstGeom>
          <a:noFill/>
        </p:spPr>
        <p:txBody>
          <a:bodyPr wrap="square">
            <a:spAutoFit/>
          </a:bodyPr>
          <a:lstStyle/>
          <a:p>
            <a:pPr algn="l">
              <a:defRPr sz="1500" b="0">
                <a:solidFill>
                  <a:srgbClr val="1F2937"/>
                </a:solidFill>
                <a:latin typeface="Microsoft YaHei"/>
              </a:defRPr>
            </a:pPr>
            <a:r>
              <a:t>营养结构包含两个层面：一是________结构，二是营养物质在食物链网不同环节的________结构。</a:t>
            </a:r>
          </a:p>
        </p:txBody>
      </p:sp>
      <p:sp>
        <p:nvSpPr>
          <p:cNvPr id="16" name="Rounded Rectangle 15"/>
          <p:cNvSpPr/>
          <p:nvPr/>
        </p:nvSpPr>
        <p:spPr>
          <a:xfrm>
            <a:off x="1005840" y="5897879"/>
            <a:ext cx="9601200" cy="411480"/>
          </a:xfrm>
          <a:prstGeom prst="round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5925311"/>
            <a:ext cx="9144000" cy="347472"/>
          </a:xfrm>
          <a:prstGeom prst="rect">
            <a:avLst/>
          </a:prstGeom>
          <a:noFill/>
        </p:spPr>
        <p:txBody>
          <a:bodyPr wrap="square">
            <a:spAutoFit/>
          </a:bodyPr>
          <a:lstStyle/>
          <a:p>
            <a:pPr algn="l">
              <a:defRPr sz="1200" b="0">
                <a:solidFill>
                  <a:srgbClr val="10B981"/>
                </a:solidFill>
                <a:latin typeface="Microsoft YaHei"/>
              </a:defRPr>
            </a:pPr>
            <a:r>
              <a:t>答案：食物链网、组配    |    💡 挖去两个关键术语，考查对营养结构两层面的精确记忆。</a:t>
            </a:r>
          </a:p>
        </p:txBody>
      </p:sp>
      <p:sp>
        <p:nvSpPr>
          <p:cNvPr id="18" name="TextBox 17"/>
          <p:cNvSpPr txBox="1"/>
          <p:nvPr/>
        </p:nvSpPr>
        <p:spPr>
          <a:xfrm>
            <a:off x="11247120" y="6446520"/>
            <a:ext cx="822960" cy="320040"/>
          </a:xfrm>
          <a:prstGeom prst="rect">
            <a:avLst/>
          </a:prstGeom>
          <a:noFill/>
        </p:spPr>
        <p:txBody>
          <a:bodyPr wrap="square">
            <a:spAutoFit/>
          </a:bodyPr>
          <a:lstStyle/>
          <a:p>
            <a:pPr algn="r">
              <a:defRPr sz="1000" b="0">
                <a:solidFill>
                  <a:srgbClr val="999999"/>
                </a:solidFill>
                <a:latin typeface="Microsoft YaHei"/>
              </a:defRPr>
            </a:pPr>
            <a:r>
              <a:t>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C"/>
        </a:solidFill>
        <a:effectLst/>
      </p:bgPr>
    </p:bg>
    <p:spTree>
      <p:nvGrpSpPr>
        <p:cNvPr id="1" name=""/>
        <p:cNvGrpSpPr/>
        <p:nvPr/>
      </p:nvGrpSpPr>
      <p:grpSpPr/>
      <p:sp>
        <p:nvSpPr>
          <p:cNvPr id="2" name="TextBox 1"/>
          <p:cNvSpPr txBox="1"/>
          <p:nvPr/>
        </p:nvSpPr>
        <p:spPr>
          <a:xfrm>
            <a:off x="731520" y="274320"/>
            <a:ext cx="10058400" cy="502920"/>
          </a:xfrm>
          <a:prstGeom prst="rect">
            <a:avLst/>
          </a:prstGeom>
          <a:noFill/>
        </p:spPr>
        <p:txBody>
          <a:bodyPr wrap="square">
            <a:spAutoFit/>
          </a:bodyPr>
          <a:lstStyle/>
          <a:p>
            <a:pPr algn="l">
              <a:defRPr sz="2800" b="1">
                <a:solidFill>
                  <a:srgbClr val="1F2937"/>
                </a:solidFill>
                <a:latin typeface="Microsoft YaHei"/>
              </a:defRPr>
            </a:pPr>
            <a:r>
              <a:t>📄 简答题（1道）—— 仅考查核心主题</a:t>
            </a:r>
          </a:p>
        </p:txBody>
      </p:sp>
      <p:sp>
        <p:nvSpPr>
          <p:cNvPr id="3" name="Rounded Rectangle 2"/>
          <p:cNvSpPr/>
          <p:nvPr/>
        </p:nvSpPr>
        <p:spPr>
          <a:xfrm>
            <a:off x="731520" y="1005840"/>
            <a:ext cx="1060704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143000"/>
            <a:ext cx="9601200" cy="274320"/>
          </a:xfrm>
          <a:prstGeom prst="rect">
            <a:avLst/>
          </a:prstGeom>
          <a:noFill/>
        </p:spPr>
        <p:txBody>
          <a:bodyPr wrap="square">
            <a:spAutoFit/>
          </a:bodyPr>
          <a:lstStyle/>
          <a:p>
            <a:pPr algn="l">
              <a:defRPr sz="1200" b="1">
                <a:solidFill>
                  <a:srgbClr val="EF4444"/>
                </a:solidFill>
                <a:latin typeface="Microsoft YaHei"/>
              </a:defRPr>
            </a:pPr>
            <a:r>
              <a:t>第1题 · 核心主题</a:t>
            </a:r>
          </a:p>
        </p:txBody>
      </p:sp>
      <p:sp>
        <p:nvSpPr>
          <p:cNvPr id="5" name="TextBox 4"/>
          <p:cNvSpPr txBox="1"/>
          <p:nvPr/>
        </p:nvSpPr>
        <p:spPr>
          <a:xfrm>
            <a:off x="1005840" y="1508760"/>
            <a:ext cx="9601200" cy="548640"/>
          </a:xfrm>
          <a:prstGeom prst="rect">
            <a:avLst/>
          </a:prstGeom>
          <a:noFill/>
        </p:spPr>
        <p:txBody>
          <a:bodyPr wrap="square">
            <a:spAutoFit/>
          </a:bodyPr>
          <a:lstStyle/>
          <a:p>
            <a:pPr algn="l">
              <a:defRPr sz="1800" b="1">
                <a:solidFill>
                  <a:srgbClr val="1F2937"/>
                </a:solidFill>
                <a:latin typeface="Microsoft YaHei"/>
              </a:defRPr>
            </a:pPr>
            <a:r>
              <a:t>📄 根据原文，请完整复述生态系统的营养结构的定义。</a:t>
            </a:r>
          </a:p>
        </p:txBody>
      </p:sp>
      <p:sp>
        <p:nvSpPr>
          <p:cNvPr id="6" name="Rounded Rectangle 5"/>
          <p:cNvSpPr/>
          <p:nvPr/>
        </p:nvSpPr>
        <p:spPr>
          <a:xfrm>
            <a:off x="731520" y="2468880"/>
            <a:ext cx="1060704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606040"/>
            <a:ext cx="9601200" cy="274320"/>
          </a:xfrm>
          <a:prstGeom prst="rect">
            <a:avLst/>
          </a:prstGeom>
          <a:noFill/>
        </p:spPr>
        <p:txBody>
          <a:bodyPr wrap="square">
            <a:spAutoFit/>
          </a:bodyPr>
          <a:lstStyle/>
          <a:p>
            <a:pPr algn="l">
              <a:defRPr sz="1200" b="1">
                <a:solidFill>
                  <a:srgbClr val="10B981"/>
                </a:solidFill>
                <a:latin typeface="Microsoft YaHei"/>
              </a:defRPr>
            </a:pPr>
            <a:r>
              <a:t>标准答案（原文忠实复述）</a:t>
            </a:r>
          </a:p>
        </p:txBody>
      </p:sp>
      <p:sp>
        <p:nvSpPr>
          <p:cNvPr id="8" name="TextBox 7"/>
          <p:cNvSpPr txBox="1"/>
          <p:nvPr/>
        </p:nvSpPr>
        <p:spPr>
          <a:xfrm>
            <a:off x="1005840" y="2971800"/>
            <a:ext cx="9601200" cy="1371600"/>
          </a:xfrm>
          <a:prstGeom prst="rect">
            <a:avLst/>
          </a:prstGeom>
          <a:noFill/>
        </p:spPr>
        <p:txBody>
          <a:bodyPr wrap="square">
            <a:spAutoFit/>
          </a:bodyPr>
          <a:lstStyle/>
          <a:p>
            <a:pPr algn="l">
              <a:defRPr sz="1500" b="0">
                <a:solidFill>
                  <a:srgbClr val="333333"/>
                </a:solidFill>
                <a:latin typeface="Microsoft YaHei"/>
              </a:defRPr>
            </a:pPr>
            <a:r>
              <a:t>生态系统的营养结构是指生态系统中各种生物成分之间或生态系统中各生态功能群——生产者、消费者和分解者之间，通过吃与被吃的食物关系以营养为纽带依次连接而成的食物链网结构，以及营养物质在食物链网中不同环节的组配结构。</a:t>
            </a:r>
          </a:p>
        </p:txBody>
      </p:sp>
      <p:sp>
        <p:nvSpPr>
          <p:cNvPr id="9" name="Rounded Rectangle 8"/>
          <p:cNvSpPr/>
          <p:nvPr/>
        </p:nvSpPr>
        <p:spPr>
          <a:xfrm>
            <a:off x="731520" y="4846320"/>
            <a:ext cx="10607040" cy="146304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983480"/>
            <a:ext cx="9601200" cy="274320"/>
          </a:xfrm>
          <a:prstGeom prst="rect">
            <a:avLst/>
          </a:prstGeom>
          <a:noFill/>
        </p:spPr>
        <p:txBody>
          <a:bodyPr wrap="square">
            <a:spAutoFit/>
          </a:bodyPr>
          <a:lstStyle/>
          <a:p>
            <a:pPr algn="l">
              <a:defRPr sz="1200" b="1">
                <a:solidFill>
                  <a:srgbClr val="FFFFFF"/>
                </a:solidFill>
                <a:latin typeface="Microsoft YaHei"/>
              </a:defRPr>
            </a:pPr>
            <a:r>
              <a:t>采分点（关键词汇）</a:t>
            </a:r>
          </a:p>
        </p:txBody>
      </p:sp>
      <p:sp>
        <p:nvSpPr>
          <p:cNvPr id="11" name="TextBox 10"/>
          <p:cNvSpPr txBox="1"/>
          <p:nvPr/>
        </p:nvSpPr>
        <p:spPr>
          <a:xfrm>
            <a:off x="1005840" y="5349240"/>
            <a:ext cx="9601200" cy="822960"/>
          </a:xfrm>
          <a:prstGeom prst="rect">
            <a:avLst/>
          </a:prstGeom>
          <a:noFill/>
        </p:spPr>
        <p:txBody>
          <a:bodyPr wrap="square">
            <a:spAutoFit/>
          </a:bodyPr>
          <a:lstStyle/>
          <a:p>
            <a:pPr>
              <a:spcAft>
                <a:spcPts val="390"/>
              </a:spcAft>
              <a:defRPr sz="1300" b="0">
                <a:solidFill>
                  <a:srgbClr val="FFFFFF"/>
                </a:solidFill>
                <a:latin typeface="Microsoft YaHei"/>
              </a:defRPr>
            </a:pPr>
            <a:r>
              <a:t>① 生物成分/生态功能群（生产者、消费者、分解者）  ② 吃与被吃的食物关系  ③ 以营养为纽带  ④ 食物链网结构  ⑤ 营养物质在不同环节的组配结构</a:t>
            </a:r>
          </a:p>
        </p:txBody>
      </p:sp>
      <p:sp>
        <p:nvSpPr>
          <p:cNvPr id="12" name="TextBox 11"/>
          <p:cNvSpPr txBox="1"/>
          <p:nvPr/>
        </p:nvSpPr>
        <p:spPr>
          <a:xfrm>
            <a:off x="731520" y="6400800"/>
            <a:ext cx="10515600" cy="320040"/>
          </a:xfrm>
          <a:prstGeom prst="rect">
            <a:avLst/>
          </a:prstGeom>
          <a:noFill/>
        </p:spPr>
        <p:txBody>
          <a:bodyPr wrap="square">
            <a:spAutoFit/>
          </a:bodyPr>
          <a:lstStyle/>
          <a:p>
            <a:pPr algn="ctr">
              <a:defRPr sz="1100" b="0">
                <a:solidFill>
                  <a:srgbClr val="999999"/>
                </a:solidFill>
                <a:latin typeface="Microsoft YaHei"/>
              </a:defRPr>
            </a:pPr>
            <a:r>
              <a:t>💡 简答不自动判分：用户自行对比标准答案，答对可主动"申诉"——体现"宁可判错、不给假对"的保守策略</a:t>
            </a:r>
          </a:p>
        </p:txBody>
      </p:sp>
      <p:sp>
        <p:nvSpPr>
          <p:cNvPr id="13" name="TextBox 12"/>
          <p:cNvSpPr txBox="1"/>
          <p:nvPr/>
        </p:nvSpPr>
        <p:spPr>
          <a:xfrm>
            <a:off x="11247120" y="6446520"/>
            <a:ext cx="822960" cy="320040"/>
          </a:xfrm>
          <a:prstGeom prst="rect">
            <a:avLst/>
          </a:prstGeom>
          <a:noFill/>
        </p:spPr>
        <p:txBody>
          <a:bodyPr wrap="square">
            <a:spAutoFit/>
          </a:bodyPr>
          <a:lstStyle/>
          <a:p>
            <a:pPr algn="r">
              <a:defRPr sz="1000" b="0">
                <a:solidFill>
                  <a:srgbClr val="999999"/>
                </a:solidFill>
                <a:latin typeface="Microsoft YaHei"/>
              </a:defRPr>
            </a:pPr>
            <a:r>
              <a:t>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F2937"/>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200" b="1">
                <a:solidFill>
                  <a:srgbClr val="FFFFFF"/>
                </a:solidFill>
                <a:latin typeface="Microsoft YaHei"/>
              </a:defRPr>
            </a:pPr>
            <a:r>
              <a:t>📊 出题汇总与规则验证</a:t>
            </a:r>
          </a:p>
        </p:txBody>
      </p:sp>
      <p:graphicFrame>
        <p:nvGraphicFramePr>
          <p:cNvPr id="3" name="Table 2"/>
          <p:cNvGraphicFramePr>
            <a:graphicFrameLocks noGrp="1"/>
          </p:cNvGraphicFramePr>
          <p:nvPr/>
        </p:nvGraphicFramePr>
        <p:xfrm>
          <a:off x="731520" y="1280160"/>
          <a:ext cx="10607040" cy="2560320"/>
        </p:xfrm>
        <a:graphic>
          <a:graphicData uri="http://schemas.openxmlformats.org/drawingml/2006/table">
            <a:tbl>
              <a:tblPr firstRow="1" bandRow="1">
                <a:tableStyleId>{5C22544A-7EE6-4342-B048-85BDC9FD1C3A}</a:tableStyleId>
              </a:tblPr>
              <a:tblGrid>
                <a:gridCol w="2121408"/>
                <a:gridCol w="2121408"/>
                <a:gridCol w="2121408"/>
                <a:gridCol w="2121408"/>
                <a:gridCol w="2121408"/>
              </a:tblGrid>
              <a:tr h="426720">
                <a:tc>
                  <a:txBody>
                    <a:bodyPr/>
                    <a:lstStyle/>
                    <a:p>
                      <a:pPr algn="ctr">
                        <a:defRPr sz="1400" b="1">
                          <a:solidFill>
                            <a:srgbClr val="FFFFFF"/>
                          </a:solidFill>
                          <a:latin typeface="Microsoft YaHei"/>
                        </a:defRPr>
                      </a:pPr>
                    </a:p>
                  </a:txBody>
                  <a:tcPr>
                    <a:solidFill>
                      <a:srgbClr val="4F46E5"/>
                    </a:solidFill>
                  </a:tcPr>
                </a:tc>
                <a:tc>
                  <a:txBody>
                    <a:bodyPr/>
                    <a:lstStyle/>
                    <a:p>
                      <a:pPr algn="ctr">
                        <a:defRPr sz="1400" b="1">
                          <a:solidFill>
                            <a:srgbClr val="FFFFFF"/>
                          </a:solidFill>
                          <a:latin typeface="Microsoft YaHei"/>
                        </a:defRPr>
                      </a:pPr>
                      <a:r>
                        <a:t>选择题</a:t>
                      </a:r>
                    </a:p>
                  </a:txBody>
                  <a:tcPr>
                    <a:solidFill>
                      <a:srgbClr val="4F46E5"/>
                    </a:solidFill>
                  </a:tcPr>
                </a:tc>
                <a:tc>
                  <a:txBody>
                    <a:bodyPr/>
                    <a:lstStyle/>
                    <a:p>
                      <a:pPr algn="ctr">
                        <a:defRPr sz="1400" b="1">
                          <a:solidFill>
                            <a:srgbClr val="FFFFFF"/>
                          </a:solidFill>
                          <a:latin typeface="Microsoft YaHei"/>
                        </a:defRPr>
                      </a:pPr>
                      <a:r>
                        <a:t>填空题</a:t>
                      </a:r>
                    </a:p>
                  </a:txBody>
                  <a:tcPr>
                    <a:solidFill>
                      <a:srgbClr val="4F46E5"/>
                    </a:solidFill>
                  </a:tcPr>
                </a:tc>
                <a:tc>
                  <a:txBody>
                    <a:bodyPr/>
                    <a:lstStyle/>
                    <a:p>
                      <a:pPr algn="ctr">
                        <a:defRPr sz="1400" b="1">
                          <a:solidFill>
                            <a:srgbClr val="FFFFFF"/>
                          </a:solidFill>
                          <a:latin typeface="Microsoft YaHei"/>
                        </a:defRPr>
                      </a:pPr>
                      <a:r>
                        <a:t>简答题</a:t>
                      </a:r>
                    </a:p>
                  </a:txBody>
                  <a:tcPr>
                    <a:solidFill>
                      <a:srgbClr val="4F46E5"/>
                    </a:solidFill>
                  </a:tcPr>
                </a:tc>
                <a:tc>
                  <a:txBody>
                    <a:bodyPr/>
                    <a:lstStyle/>
                    <a:p>
                      <a:pPr algn="ctr">
                        <a:defRPr sz="1400" b="1">
                          <a:solidFill>
                            <a:srgbClr val="FFFFFF"/>
                          </a:solidFill>
                          <a:latin typeface="Microsoft YaHei"/>
                        </a:defRPr>
                      </a:pPr>
                      <a:r>
                        <a:t>是否升级</a:t>
                      </a:r>
                    </a:p>
                  </a:txBody>
                  <a:tcPr>
                    <a:solidFill>
                      <a:srgbClr val="4F46E5"/>
                    </a:solidFill>
                  </a:tcPr>
                </a:tc>
              </a:tr>
              <a:tr h="426720">
                <a:tc>
                  <a:txBody>
                    <a:bodyPr/>
                    <a:lstStyle/>
                    <a:p>
                      <a:pPr algn="ctr">
                        <a:defRPr sz="1200" b="0">
                          <a:solidFill>
                            <a:srgbClr val="333333"/>
                          </a:solidFill>
                          <a:latin typeface="Microsoft YaHei"/>
                        </a:defRPr>
                      </a:pPr>
                      <a:r>
                        <a:t>角度一：定义</a:t>
                      </a:r>
                    </a:p>
                  </a:txBody>
                  <a:tcPr/>
                </a:tc>
                <a:tc>
                  <a:txBody>
                    <a:bodyPr/>
                    <a:lstStyle/>
                    <a:p>
                      <a:pPr algn="ctr">
                        <a:defRPr sz="1200" b="0">
                          <a:solidFill>
                            <a:srgbClr val="10B981"/>
                          </a:solidFill>
                          <a:latin typeface="Microsoft YaHei"/>
                        </a:defRPr>
                      </a:pPr>
                      <a:r>
                        <a:t>✓ 第1题</a:t>
                      </a:r>
                    </a:p>
                  </a:txBody>
                  <a:tcPr/>
                </a:tc>
                <a:tc>
                  <a:txBody>
                    <a:bodyPr/>
                    <a:lstStyle/>
                    <a:p>
                      <a:pPr algn="ctr">
                        <a:defRPr sz="1200" b="0">
                          <a:solidFill>
                            <a:srgbClr val="10B981"/>
                          </a:solidFill>
                          <a:latin typeface="Microsoft YaHei"/>
                        </a:defRPr>
                      </a:pPr>
                      <a:r>
                        <a:t>✓ 第1题</a:t>
                      </a:r>
                    </a:p>
                  </a:txBody>
                  <a:tcPr/>
                </a:tc>
                <a:tc>
                  <a:txBody>
                    <a:bodyPr/>
                    <a:lstStyle/>
                    <a:p>
                      <a:pPr algn="ctr">
                        <a:defRPr sz="1200" b="0">
                          <a:solidFill>
                            <a:srgbClr val="333333"/>
                          </a:solidFill>
                          <a:latin typeface="Microsoft YaHei"/>
                        </a:defRPr>
                      </a:pPr>
                      <a:r>
                        <a:t>—</a:t>
                      </a:r>
                    </a:p>
                  </a:txBody>
                  <a:tcPr/>
                </a:tc>
                <a:tc>
                  <a:txBody>
                    <a:bodyPr/>
                    <a:lstStyle/>
                    <a:p>
                      <a:pPr algn="ctr">
                        <a:defRPr sz="1200" b="0">
                          <a:solidFill>
                            <a:srgbClr val="333333"/>
                          </a:solidFill>
                          <a:latin typeface="Microsoft YaHei"/>
                        </a:defRPr>
                      </a:pPr>
                      <a:r>
                        <a:t>选择→填空</a:t>
                      </a:r>
                    </a:p>
                  </a:txBody>
                  <a:tcPr/>
                </a:tc>
              </a:tr>
              <a:tr h="426720">
                <a:tc>
                  <a:txBody>
                    <a:bodyPr/>
                    <a:lstStyle/>
                    <a:p>
                      <a:pPr algn="ctr">
                        <a:defRPr sz="1200" b="0">
                          <a:solidFill>
                            <a:srgbClr val="333333"/>
                          </a:solidFill>
                          <a:latin typeface="Microsoft YaHei"/>
                        </a:defRPr>
                      </a:pPr>
                      <a:r>
                        <a:t>角度二：功能群</a:t>
                      </a:r>
                    </a:p>
                  </a:txBody>
                  <a:tcPr/>
                </a:tc>
                <a:tc>
                  <a:txBody>
                    <a:bodyPr/>
                    <a:lstStyle/>
                    <a:p>
                      <a:pPr algn="ctr">
                        <a:defRPr sz="1200" b="0">
                          <a:solidFill>
                            <a:srgbClr val="10B981"/>
                          </a:solidFill>
                          <a:latin typeface="Microsoft YaHei"/>
                        </a:defRPr>
                      </a:pPr>
                      <a:r>
                        <a:t>✓ 第2题</a:t>
                      </a:r>
                    </a:p>
                  </a:txBody>
                  <a:tcPr/>
                </a:tc>
                <a:tc>
                  <a:txBody>
                    <a:bodyPr/>
                    <a:lstStyle/>
                    <a:p>
                      <a:pPr algn="ctr">
                        <a:defRPr sz="1200" b="0">
                          <a:solidFill>
                            <a:srgbClr val="10B981"/>
                          </a:solidFill>
                          <a:latin typeface="Microsoft YaHei"/>
                        </a:defRPr>
                      </a:pPr>
                      <a:r>
                        <a:t>✓ 第2题</a:t>
                      </a:r>
                    </a:p>
                  </a:txBody>
                  <a:tcPr/>
                </a:tc>
                <a:tc>
                  <a:txBody>
                    <a:bodyPr/>
                    <a:lstStyle/>
                    <a:p>
                      <a:pPr algn="ctr">
                        <a:defRPr sz="1200" b="0">
                          <a:solidFill>
                            <a:srgbClr val="333333"/>
                          </a:solidFill>
                          <a:latin typeface="Microsoft YaHei"/>
                        </a:defRPr>
                      </a:pPr>
                      <a:r>
                        <a:t>—</a:t>
                      </a:r>
                    </a:p>
                  </a:txBody>
                  <a:tcPr/>
                </a:tc>
                <a:tc>
                  <a:txBody>
                    <a:bodyPr/>
                    <a:lstStyle/>
                    <a:p>
                      <a:pPr algn="ctr">
                        <a:defRPr sz="1200" b="0">
                          <a:solidFill>
                            <a:srgbClr val="333333"/>
                          </a:solidFill>
                          <a:latin typeface="Microsoft YaHei"/>
                        </a:defRPr>
                      </a:pPr>
                      <a:r>
                        <a:t>选择→填空</a:t>
                      </a:r>
                    </a:p>
                  </a:txBody>
                  <a:tcPr/>
                </a:tc>
              </a:tr>
              <a:tr h="426720">
                <a:tc>
                  <a:txBody>
                    <a:bodyPr/>
                    <a:lstStyle/>
                    <a:p>
                      <a:pPr algn="ctr">
                        <a:defRPr sz="1200" b="0">
                          <a:solidFill>
                            <a:srgbClr val="333333"/>
                          </a:solidFill>
                          <a:latin typeface="Microsoft YaHei"/>
                        </a:defRPr>
                      </a:pPr>
                      <a:r>
                        <a:t>角度三：两种结构</a:t>
                      </a:r>
                    </a:p>
                  </a:txBody>
                  <a:tcPr/>
                </a:tc>
                <a:tc>
                  <a:txBody>
                    <a:bodyPr/>
                    <a:lstStyle/>
                    <a:p>
                      <a:pPr algn="ctr">
                        <a:defRPr sz="1200" b="0">
                          <a:solidFill>
                            <a:srgbClr val="10B981"/>
                          </a:solidFill>
                          <a:latin typeface="Microsoft YaHei"/>
                        </a:defRPr>
                      </a:pPr>
                      <a:r>
                        <a:t>✓ 第3题</a:t>
                      </a:r>
                    </a:p>
                  </a:txBody>
                  <a:tcPr/>
                </a:tc>
                <a:tc>
                  <a:txBody>
                    <a:bodyPr/>
                    <a:lstStyle/>
                    <a:p>
                      <a:pPr algn="ctr">
                        <a:defRPr sz="1200" b="0">
                          <a:solidFill>
                            <a:srgbClr val="10B981"/>
                          </a:solidFill>
                          <a:latin typeface="Microsoft YaHei"/>
                        </a:defRPr>
                      </a:pPr>
                      <a:r>
                        <a:t>✓ 第3题</a:t>
                      </a:r>
                    </a:p>
                  </a:txBody>
                  <a:tcPr/>
                </a:tc>
                <a:tc>
                  <a:txBody>
                    <a:bodyPr/>
                    <a:lstStyle/>
                    <a:p>
                      <a:pPr algn="ctr">
                        <a:defRPr sz="1200" b="0">
                          <a:solidFill>
                            <a:srgbClr val="333333"/>
                          </a:solidFill>
                          <a:latin typeface="Microsoft YaHei"/>
                        </a:defRPr>
                      </a:pPr>
                      <a:r>
                        <a:t>—</a:t>
                      </a:r>
                    </a:p>
                  </a:txBody>
                  <a:tcPr/>
                </a:tc>
                <a:tc>
                  <a:txBody>
                    <a:bodyPr/>
                    <a:lstStyle/>
                    <a:p>
                      <a:pPr algn="ctr">
                        <a:defRPr sz="1200" b="0">
                          <a:solidFill>
                            <a:srgbClr val="333333"/>
                          </a:solidFill>
                          <a:latin typeface="Microsoft YaHei"/>
                        </a:defRPr>
                      </a:pPr>
                      <a:r>
                        <a:t>选择→填空</a:t>
                      </a:r>
                    </a:p>
                  </a:txBody>
                  <a:tcPr/>
                </a:tc>
              </a:tr>
              <a:tr h="426720">
                <a:tc>
                  <a:txBody>
                    <a:bodyPr/>
                    <a:lstStyle/>
                    <a:p>
                      <a:pPr algn="ctr">
                        <a:defRPr sz="1200" b="0">
                          <a:solidFill>
                            <a:srgbClr val="333333"/>
                          </a:solidFill>
                          <a:latin typeface="Microsoft YaHei"/>
                        </a:defRPr>
                      </a:pPr>
                      <a:r>
                        <a:t>角度四：连接机制</a:t>
                      </a:r>
                    </a:p>
                  </a:txBody>
                  <a:tcPr/>
                </a:tc>
                <a:tc>
                  <a:txBody>
                    <a:bodyPr/>
                    <a:lstStyle/>
                    <a:p>
                      <a:pPr algn="ctr">
                        <a:defRPr sz="1200" b="0">
                          <a:solidFill>
                            <a:srgbClr val="10B981"/>
                          </a:solidFill>
                          <a:latin typeface="Microsoft YaHei"/>
                        </a:defRPr>
                      </a:pPr>
                      <a:r>
                        <a:t>✓ 第4题</a:t>
                      </a:r>
                    </a:p>
                  </a:txBody>
                  <a:tcPr/>
                </a:tc>
                <a:tc>
                  <a:txBody>
                    <a:bodyPr/>
                    <a:lstStyle/>
                    <a:p>
                      <a:pPr algn="ctr">
                        <a:defRPr sz="1200" b="0">
                          <a:solidFill>
                            <a:srgbClr val="333333"/>
                          </a:solidFill>
                          <a:latin typeface="Microsoft YaHei"/>
                        </a:defRPr>
                      </a:pPr>
                      <a:r>
                        <a:t>—</a:t>
                      </a:r>
                    </a:p>
                  </a:txBody>
                  <a:tcPr/>
                </a:tc>
                <a:tc>
                  <a:txBody>
                    <a:bodyPr/>
                    <a:lstStyle/>
                    <a:p>
                      <a:pPr algn="ctr">
                        <a:defRPr sz="1200" b="0">
                          <a:solidFill>
                            <a:srgbClr val="333333"/>
                          </a:solidFill>
                          <a:latin typeface="Microsoft YaHei"/>
                        </a:defRPr>
                      </a:pPr>
                      <a:r>
                        <a:t>—</a:t>
                      </a:r>
                    </a:p>
                  </a:txBody>
                  <a:tcPr/>
                </a:tc>
                <a:tc>
                  <a:txBody>
                    <a:bodyPr/>
                    <a:lstStyle/>
                    <a:p>
                      <a:pPr algn="ctr">
                        <a:defRPr sz="1200" b="0">
                          <a:solidFill>
                            <a:srgbClr val="333333"/>
                          </a:solidFill>
                          <a:latin typeface="Microsoft YaHei"/>
                        </a:defRPr>
                      </a:pPr>
                      <a:r>
                        <a:t>仅选择</a:t>
                      </a:r>
                    </a:p>
                  </a:txBody>
                  <a:tcPr/>
                </a:tc>
              </a:tr>
              <a:tr h="426720">
                <a:tc>
                  <a:txBody>
                    <a:bodyPr/>
                    <a:lstStyle/>
                    <a:p>
                      <a:pPr algn="ctr">
                        <a:defRPr sz="1200" b="0">
                          <a:solidFill>
                            <a:srgbClr val="333333"/>
                          </a:solidFill>
                          <a:latin typeface="Microsoft YaHei"/>
                        </a:defRPr>
                      </a:pPr>
                      <a:r>
                        <a:t>核心主题</a:t>
                      </a:r>
                    </a:p>
                  </a:txBody>
                  <a:tcPr/>
                </a:tc>
                <a:tc>
                  <a:txBody>
                    <a:bodyPr/>
                    <a:lstStyle/>
                    <a:p>
                      <a:pPr algn="ctr">
                        <a:defRPr sz="1200" b="0">
                          <a:solidFill>
                            <a:srgbClr val="333333"/>
                          </a:solidFill>
                          <a:latin typeface="Microsoft YaHei"/>
                        </a:defRPr>
                      </a:pPr>
                      <a:r>
                        <a:t>—</a:t>
                      </a:r>
                    </a:p>
                  </a:txBody>
                  <a:tcPr/>
                </a:tc>
                <a:tc>
                  <a:txBody>
                    <a:bodyPr/>
                    <a:lstStyle/>
                    <a:p>
                      <a:pPr algn="ctr">
                        <a:defRPr sz="1200" b="0">
                          <a:solidFill>
                            <a:srgbClr val="333333"/>
                          </a:solidFill>
                          <a:latin typeface="Microsoft YaHei"/>
                        </a:defRPr>
                      </a:pPr>
                      <a:r>
                        <a:t>—</a:t>
                      </a:r>
                    </a:p>
                  </a:txBody>
                  <a:tcPr/>
                </a:tc>
                <a:tc>
                  <a:txBody>
                    <a:bodyPr/>
                    <a:lstStyle/>
                    <a:p>
                      <a:pPr algn="ctr">
                        <a:defRPr sz="1200" b="0">
                          <a:solidFill>
                            <a:srgbClr val="10B981"/>
                          </a:solidFill>
                          <a:latin typeface="Microsoft YaHei"/>
                        </a:defRPr>
                      </a:pPr>
                      <a:r>
                        <a:t>✓</a:t>
                      </a:r>
                    </a:p>
                  </a:txBody>
                  <a:tcPr/>
                </a:tc>
                <a:tc>
                  <a:txBody>
                    <a:bodyPr/>
                    <a:lstStyle/>
                    <a:p>
                      <a:pPr algn="ctr">
                        <a:defRPr sz="1200" b="0">
                          <a:solidFill>
                            <a:srgbClr val="333333"/>
                          </a:solidFill>
                          <a:latin typeface="Microsoft YaHei"/>
                        </a:defRPr>
                      </a:pPr>
                      <a:r>
                        <a:t>仅简答</a:t>
                      </a:r>
                    </a:p>
                  </a:txBody>
                  <a:tcPr/>
                </a:tc>
              </a:tr>
            </a:tbl>
          </a:graphicData>
        </a:graphic>
      </p:graphicFrame>
      <p:sp>
        <p:nvSpPr>
          <p:cNvPr id="4" name="TextBox 3"/>
          <p:cNvSpPr txBox="1"/>
          <p:nvPr/>
        </p:nvSpPr>
        <p:spPr>
          <a:xfrm>
            <a:off x="914400" y="4023360"/>
            <a:ext cx="4572000" cy="365760"/>
          </a:xfrm>
          <a:prstGeom prst="rect">
            <a:avLst/>
          </a:prstGeom>
          <a:noFill/>
        </p:spPr>
        <p:txBody>
          <a:bodyPr wrap="square">
            <a:spAutoFit/>
          </a:bodyPr>
          <a:lstStyle/>
          <a:p>
            <a:pPr algn="l">
              <a:defRPr sz="1300" b="1">
                <a:solidFill>
                  <a:srgbClr val="FFFFFF"/>
                </a:solidFill>
                <a:latin typeface="Microsoft YaHei"/>
              </a:defRPr>
            </a:pPr>
            <a:r>
              <a:t>规则1：选择题为主体</a:t>
            </a:r>
          </a:p>
        </p:txBody>
      </p:sp>
      <p:sp>
        <p:nvSpPr>
          <p:cNvPr id="5" name="TextBox 4"/>
          <p:cNvSpPr txBox="1"/>
          <p:nvPr/>
        </p:nvSpPr>
        <p:spPr>
          <a:xfrm>
            <a:off x="5029200" y="4023360"/>
            <a:ext cx="6400800" cy="365760"/>
          </a:xfrm>
          <a:prstGeom prst="rect">
            <a:avLst/>
          </a:prstGeom>
          <a:noFill/>
        </p:spPr>
        <p:txBody>
          <a:bodyPr wrap="square">
            <a:spAutoFit/>
          </a:bodyPr>
          <a:lstStyle/>
          <a:p>
            <a:pPr algn="l">
              <a:defRPr sz="1300" b="0">
                <a:solidFill>
                  <a:srgbClr val="10B981"/>
                </a:solidFill>
                <a:latin typeface="Microsoft YaHei"/>
              </a:defRPr>
            </a:pPr>
            <a:r>
              <a:t>4道选择题覆盖全部4个角度 ✓</a:t>
            </a:r>
          </a:p>
        </p:txBody>
      </p:sp>
      <p:sp>
        <p:nvSpPr>
          <p:cNvPr id="6" name="TextBox 5"/>
          <p:cNvSpPr txBox="1"/>
          <p:nvPr/>
        </p:nvSpPr>
        <p:spPr>
          <a:xfrm>
            <a:off x="914400" y="4462272"/>
            <a:ext cx="4572000" cy="365760"/>
          </a:xfrm>
          <a:prstGeom prst="rect">
            <a:avLst/>
          </a:prstGeom>
          <a:noFill/>
        </p:spPr>
        <p:txBody>
          <a:bodyPr wrap="square">
            <a:spAutoFit/>
          </a:bodyPr>
          <a:lstStyle/>
          <a:p>
            <a:pPr algn="l">
              <a:defRPr sz="1300" b="1">
                <a:solidFill>
                  <a:srgbClr val="FFFFFF"/>
                </a:solidFill>
                <a:latin typeface="Microsoft YaHei"/>
              </a:defRPr>
            </a:pPr>
            <a:r>
              <a:t>规则2：填空只升级含术语的角度</a:t>
            </a:r>
          </a:p>
        </p:txBody>
      </p:sp>
      <p:sp>
        <p:nvSpPr>
          <p:cNvPr id="7" name="TextBox 6"/>
          <p:cNvSpPr txBox="1"/>
          <p:nvPr/>
        </p:nvSpPr>
        <p:spPr>
          <a:xfrm>
            <a:off x="5029200" y="4462272"/>
            <a:ext cx="6400800" cy="365760"/>
          </a:xfrm>
          <a:prstGeom prst="rect">
            <a:avLst/>
          </a:prstGeom>
          <a:noFill/>
        </p:spPr>
        <p:txBody>
          <a:bodyPr wrap="square">
            <a:spAutoFit/>
          </a:bodyPr>
          <a:lstStyle/>
          <a:p>
            <a:pPr algn="l">
              <a:defRPr sz="1300" b="0">
                <a:solidFill>
                  <a:srgbClr val="10B981"/>
                </a:solidFill>
                <a:latin typeface="Microsoft YaHei"/>
              </a:defRPr>
            </a:pPr>
            <a:r>
              <a:t>前3个角度有明确术语（"营养结构""生产者""组配"），升级为填空 ✓</a:t>
            </a:r>
          </a:p>
        </p:txBody>
      </p:sp>
      <p:sp>
        <p:nvSpPr>
          <p:cNvPr id="8" name="TextBox 7"/>
          <p:cNvSpPr txBox="1"/>
          <p:nvPr/>
        </p:nvSpPr>
        <p:spPr>
          <a:xfrm>
            <a:off x="914400" y="4901184"/>
            <a:ext cx="4572000" cy="365760"/>
          </a:xfrm>
          <a:prstGeom prst="rect">
            <a:avLst/>
          </a:prstGeom>
          <a:noFill/>
        </p:spPr>
        <p:txBody>
          <a:bodyPr wrap="square">
            <a:spAutoFit/>
          </a:bodyPr>
          <a:lstStyle/>
          <a:p>
            <a:pPr algn="l">
              <a:defRPr sz="1300" b="1">
                <a:solidFill>
                  <a:srgbClr val="FFFFFF"/>
                </a:solidFill>
                <a:latin typeface="Microsoft YaHei"/>
              </a:defRPr>
            </a:pPr>
            <a:r>
              <a:t>规则3：简答仅考核心主题</a:t>
            </a:r>
          </a:p>
        </p:txBody>
      </p:sp>
      <p:sp>
        <p:nvSpPr>
          <p:cNvPr id="9" name="TextBox 8"/>
          <p:cNvSpPr txBox="1"/>
          <p:nvPr/>
        </p:nvSpPr>
        <p:spPr>
          <a:xfrm>
            <a:off x="5029200" y="4901184"/>
            <a:ext cx="6400800" cy="365760"/>
          </a:xfrm>
          <a:prstGeom prst="rect">
            <a:avLst/>
          </a:prstGeom>
          <a:noFill/>
        </p:spPr>
        <p:txBody>
          <a:bodyPr wrap="square">
            <a:spAutoFit/>
          </a:bodyPr>
          <a:lstStyle/>
          <a:p>
            <a:pPr algn="l">
              <a:defRPr sz="1300" b="0">
                <a:solidFill>
                  <a:srgbClr val="10B981"/>
                </a:solidFill>
                <a:latin typeface="Microsoft YaHei"/>
              </a:defRPr>
            </a:pPr>
            <a:r>
              <a:t>只有1道简答，考查完整定义复述 ✓</a:t>
            </a:r>
          </a:p>
        </p:txBody>
      </p:sp>
      <p:sp>
        <p:nvSpPr>
          <p:cNvPr id="10" name="TextBox 9"/>
          <p:cNvSpPr txBox="1"/>
          <p:nvPr/>
        </p:nvSpPr>
        <p:spPr>
          <a:xfrm>
            <a:off x="914400" y="5340096"/>
            <a:ext cx="4572000" cy="365760"/>
          </a:xfrm>
          <a:prstGeom prst="rect">
            <a:avLst/>
          </a:prstGeom>
          <a:noFill/>
        </p:spPr>
        <p:txBody>
          <a:bodyPr wrap="square">
            <a:spAutoFit/>
          </a:bodyPr>
          <a:lstStyle/>
          <a:p>
            <a:pPr algn="l">
              <a:defRPr sz="1300" b="1">
                <a:solidFill>
                  <a:srgbClr val="FFFFFF"/>
                </a:solidFill>
                <a:latin typeface="Microsoft YaHei"/>
              </a:defRPr>
            </a:pPr>
            <a:r>
              <a:t>规则4：角度对齐</a:t>
            </a:r>
          </a:p>
        </p:txBody>
      </p:sp>
      <p:sp>
        <p:nvSpPr>
          <p:cNvPr id="11" name="TextBox 10"/>
          <p:cNvSpPr txBox="1"/>
          <p:nvPr/>
        </p:nvSpPr>
        <p:spPr>
          <a:xfrm>
            <a:off x="5029200" y="5340096"/>
            <a:ext cx="6400800" cy="365760"/>
          </a:xfrm>
          <a:prstGeom prst="rect">
            <a:avLst/>
          </a:prstGeom>
          <a:noFill/>
        </p:spPr>
        <p:txBody>
          <a:bodyPr wrap="square">
            <a:spAutoFit/>
          </a:bodyPr>
          <a:lstStyle/>
          <a:p>
            <a:pPr algn="l">
              <a:defRPr sz="1300" b="0">
                <a:solidFill>
                  <a:srgbClr val="10B981"/>
                </a:solidFill>
                <a:latin typeface="Microsoft YaHei"/>
              </a:defRPr>
            </a:pPr>
            <a:r>
              <a:t>每个角度的填空题都先在选择题中出现过，不空降 ✓</a:t>
            </a:r>
          </a:p>
        </p:txBody>
      </p:sp>
      <p:sp>
        <p:nvSpPr>
          <p:cNvPr id="12" name="TextBox 11"/>
          <p:cNvSpPr txBox="1"/>
          <p:nvPr/>
        </p:nvSpPr>
        <p:spPr>
          <a:xfrm>
            <a:off x="914400" y="5779008"/>
            <a:ext cx="4572000" cy="365760"/>
          </a:xfrm>
          <a:prstGeom prst="rect">
            <a:avLst/>
          </a:prstGeom>
          <a:noFill/>
        </p:spPr>
        <p:txBody>
          <a:bodyPr wrap="square">
            <a:spAutoFit/>
          </a:bodyPr>
          <a:lstStyle/>
          <a:p>
            <a:pPr algn="l">
              <a:defRPr sz="1300" b="1">
                <a:solidFill>
                  <a:srgbClr val="FFFFFF"/>
                </a:solidFill>
                <a:latin typeface="Microsoft YaHei"/>
              </a:defRPr>
            </a:pPr>
            <a:r>
              <a:t>规则5：答案来自原文</a:t>
            </a:r>
          </a:p>
        </p:txBody>
      </p:sp>
      <p:sp>
        <p:nvSpPr>
          <p:cNvPr id="13" name="TextBox 12"/>
          <p:cNvSpPr txBox="1"/>
          <p:nvPr/>
        </p:nvSpPr>
        <p:spPr>
          <a:xfrm>
            <a:off x="5029200" y="5779008"/>
            <a:ext cx="6400800" cy="365760"/>
          </a:xfrm>
          <a:prstGeom prst="rect">
            <a:avLst/>
          </a:prstGeom>
          <a:noFill/>
        </p:spPr>
        <p:txBody>
          <a:bodyPr wrap="square">
            <a:spAutoFit/>
          </a:bodyPr>
          <a:lstStyle/>
          <a:p>
            <a:pPr algn="l">
              <a:defRPr sz="1300" b="0">
                <a:solidFill>
                  <a:srgbClr val="10B981"/>
                </a:solidFill>
                <a:latin typeface="Microsoft YaHei"/>
              </a:defRPr>
            </a:pPr>
            <a:r>
              <a:t>所有答案均为原文原词或忠实复述，无AI添加内容 ✓</a:t>
            </a:r>
          </a:p>
        </p:txBody>
      </p:sp>
      <p:sp>
        <p:nvSpPr>
          <p:cNvPr id="14" name="TextBox 13"/>
          <p:cNvSpPr txBox="1"/>
          <p:nvPr/>
        </p:nvSpPr>
        <p:spPr>
          <a:xfrm>
            <a:off x="914400" y="6217920"/>
            <a:ext cx="4572000" cy="365760"/>
          </a:xfrm>
          <a:prstGeom prst="rect">
            <a:avLst/>
          </a:prstGeom>
          <a:noFill/>
        </p:spPr>
        <p:txBody>
          <a:bodyPr wrap="square">
            <a:spAutoFit/>
          </a:bodyPr>
          <a:lstStyle/>
          <a:p>
            <a:pPr algn="l">
              <a:defRPr sz="1300" b="1">
                <a:solidFill>
                  <a:srgbClr val="FFFFFF"/>
                </a:solidFill>
                <a:latin typeface="Microsoft YaHei"/>
              </a:defRPr>
            </a:pPr>
            <a:r>
              <a:t>规则6：中等段落题量</a:t>
            </a:r>
          </a:p>
        </p:txBody>
      </p:sp>
      <p:sp>
        <p:nvSpPr>
          <p:cNvPr id="15" name="TextBox 14"/>
          <p:cNvSpPr txBox="1"/>
          <p:nvPr/>
        </p:nvSpPr>
        <p:spPr>
          <a:xfrm>
            <a:off x="5029200" y="6217920"/>
            <a:ext cx="6400800" cy="365760"/>
          </a:xfrm>
          <a:prstGeom prst="rect">
            <a:avLst/>
          </a:prstGeom>
          <a:noFill/>
        </p:spPr>
        <p:txBody>
          <a:bodyPr wrap="square">
            <a:spAutoFit/>
          </a:bodyPr>
          <a:lstStyle/>
          <a:p>
            <a:pPr algn="l">
              <a:defRPr sz="1300" b="0">
                <a:solidFill>
                  <a:srgbClr val="10B981"/>
                </a:solidFill>
                <a:latin typeface="Microsoft YaHei"/>
              </a:defRPr>
            </a:pPr>
            <a:r>
              <a:t>4选+3填+1简=8道，符合"中等段落(80-150字)"的规则 ✓</a:t>
            </a:r>
          </a:p>
        </p:txBody>
      </p:sp>
      <p:sp>
        <p:nvSpPr>
          <p:cNvPr id="16" name="TextBox 15"/>
          <p:cNvSpPr txBox="1"/>
          <p:nvPr/>
        </p:nvSpPr>
        <p:spPr>
          <a:xfrm>
            <a:off x="11247120" y="6446520"/>
            <a:ext cx="822960" cy="320040"/>
          </a:xfrm>
          <a:prstGeom prst="rect">
            <a:avLst/>
          </a:prstGeom>
          <a:noFill/>
        </p:spPr>
        <p:txBody>
          <a:bodyPr wrap="square">
            <a:spAutoFit/>
          </a:bodyPr>
          <a:lstStyle/>
          <a:p>
            <a:pPr algn="r">
              <a:defRPr sz="1000" b="0">
                <a:solidFill>
                  <a:srgbClr val="999999"/>
                </a:solidFill>
                <a:latin typeface="Microsoft YaHei"/>
              </a:defRPr>
            </a:pPr>
            <a:r>
              <a:t>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